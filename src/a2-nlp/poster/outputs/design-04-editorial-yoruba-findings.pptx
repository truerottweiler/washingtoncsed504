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32918400" cy="43891200"/>
  <p:notesSz cx="6858000" cy="9144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4" orient="horz" pos="26496" userDrawn="1">
          <p15:clr>
            <a:srgbClr val="A4A3A4"/>
          </p15:clr>
        </p15:guide>
        <p15:guide id="5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1152"/>
        <p:guide orient="horz" pos="2649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1036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19194586"/>
            <a:ext cx="1270" cy="22867815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19163321"/>
            <a:ext cx="1270" cy="22899078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57400" y="18475568"/>
            <a:ext cx="28803600" cy="1270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92" y="1843072"/>
            <a:ext cx="8580558" cy="503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020" y="1385743"/>
            <a:ext cx="4183380" cy="250342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2057401" y="2849605"/>
            <a:ext cx="25436945" cy="390250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469213"/>
            <a:ext cx="5815584" cy="12679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07407" y="8424333"/>
            <a:ext cx="28753594" cy="1126067"/>
          </a:xfrm>
        </p:spPr>
        <p:txBody>
          <a:bodyPr lIns="121920" tIns="60960" rIns="121920" bIns="60960"/>
          <a:lstStyle>
            <a:lvl1pPr marL="0" indent="0">
              <a:buNone/>
              <a:defRPr sz="48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280238"/>
            <a:ext cx="13608842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52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7" y="13509969"/>
            <a:ext cx="13608842" cy="448613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202150" y="11279718"/>
            <a:ext cx="13658850" cy="58906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4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202150" y="17396884"/>
            <a:ext cx="13658852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9194585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0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57403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86613" y="28246918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979356" y="31098600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57057" y="34245553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9017382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001500" y="19194585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2023482" y="20878800"/>
            <a:ext cx="8893418" cy="7584017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44363" y="29506983"/>
            <a:ext cx="8829646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1500" y="30866048"/>
            <a:ext cx="891540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1502" y="32390597"/>
            <a:ext cx="8987471" cy="3640089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2001500" y="36493934"/>
            <a:ext cx="8915400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08986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7272863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453033" y="41700366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7272863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17050" y="1919458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2068406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2220861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111730" y="28449057"/>
            <a:ext cx="8714737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9079563" y="3125625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158866" y="34403205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2642751" y="29232464"/>
            <a:ext cx="8218251" cy="517074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54621" y="35681137"/>
            <a:ext cx="8706379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125381" y="37091370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2125382" y="38615922"/>
            <a:ext cx="8714737" cy="3556460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2918400" cy="883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2415" y="9948674"/>
            <a:ext cx="1270" cy="32113727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514315" y="9997440"/>
            <a:ext cx="1270" cy="32064961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538" y="1857483"/>
            <a:ext cx="13727862" cy="9583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57400" y="3214253"/>
            <a:ext cx="28180147" cy="3316182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8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6225373"/>
            <a:ext cx="5815584" cy="1267968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07407" y="10158750"/>
            <a:ext cx="8693943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107407" y="11723319"/>
            <a:ext cx="8693943" cy="220744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352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07408" y="13902252"/>
            <a:ext cx="8693941" cy="6062148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057402" y="20983992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979356" y="23882016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57057" y="27028967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588421" y="21800801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057402" y="28189765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71048" y="296744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71051" y="31198967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057400" y="35630334"/>
            <a:ext cx="8714739" cy="57462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057402" y="41534497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001500" y="9926353"/>
            <a:ext cx="8915400" cy="1684215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4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023482" y="11610568"/>
            <a:ext cx="8893418" cy="9181833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8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023482" y="21560366"/>
            <a:ext cx="8893418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09832" y="23098796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009835" y="24623347"/>
            <a:ext cx="8714737" cy="6085253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39043" y="31743650"/>
            <a:ext cx="8848641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008986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2044333" y="32558031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453033" y="36985535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6484203" y="32558031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008986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12044333" y="37457549"/>
            <a:ext cx="4414812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453033" y="41885050"/>
            <a:ext cx="44502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6484203" y="37457549"/>
            <a:ext cx="4389753" cy="441589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117050" y="10158750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25381" y="11541798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125382" y="13066347"/>
            <a:ext cx="8714737" cy="5502782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124746" y="19221450"/>
            <a:ext cx="8685526" cy="768349"/>
          </a:xfrm>
        </p:spPr>
        <p:txBody>
          <a:bodyPr lIns="121920" tIns="60960" rIns="121920" bIns="60960"/>
          <a:lstStyle>
            <a:lvl1pPr marL="0" indent="0" algn="ctr">
              <a:buNone/>
              <a:defRPr sz="4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9108778" y="22071013"/>
            <a:ext cx="5882714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145191" y="25217969"/>
            <a:ext cx="8757946" cy="472016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88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22676555" y="19989800"/>
            <a:ext cx="8226582" cy="5228167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22117050" y="26638638"/>
            <a:ext cx="8714739" cy="72592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512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2117053" y="34055831"/>
            <a:ext cx="8743948" cy="5990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92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117050" y="35708168"/>
            <a:ext cx="8743950" cy="77046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4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096171" y="37142015"/>
            <a:ext cx="8743950" cy="126153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096173" y="38666564"/>
            <a:ext cx="8714737" cy="3567016"/>
          </a:xfrm>
        </p:spPr>
        <p:txBody>
          <a:bodyPr lIns="121920" tIns="60960" rIns="121920" bIns="6096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288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88" y="2336800"/>
            <a:ext cx="28394025" cy="84836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188" y="11684000"/>
            <a:ext cx="28394025" cy="27848982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8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824" userDrawn="1">
          <p15:clr>
            <a:srgbClr val="F26B43"/>
          </p15:clr>
        </p15:guide>
        <p15:guide id="2" pos="1296" userDrawn="1">
          <p15:clr>
            <a:srgbClr val="F26B43"/>
          </p15:clr>
        </p15:guide>
        <p15:guide id="3" pos="19440" userDrawn="1">
          <p15:clr>
            <a:srgbClr val="F26B43"/>
          </p15:clr>
        </p15:guide>
        <p15:guide id="4" pos="6804" userDrawn="1">
          <p15:clr>
            <a:srgbClr val="F26B43"/>
          </p15:clr>
        </p15:guide>
        <p15:guide id="5" pos="7560" userDrawn="1">
          <p15:clr>
            <a:srgbClr val="F26B43"/>
          </p15:clr>
        </p15:guide>
        <p15:guide id="6" pos="13176" userDrawn="1">
          <p15:clr>
            <a:srgbClr val="F26B43"/>
          </p15:clr>
        </p15:guide>
        <p15:guide id="7" pos="139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LabelCover"/>
          <p:cNvSpPr>
            <a:spLocks/>
          </p:cNvSpPr>
          <p:nvPr/>
        </p:nvSpPr>
        <p:spPr>
          <a:xfrm>
            <a:off x="1947671" y="1341120"/>
            <a:ext cx="5966458" cy="3657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2057400" y="3203678"/>
            <a:ext cx="26471879" cy="1212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680" b="1">
                <a:solidFill>
                  <a:srgbClr val="FFFFFF"/>
                </a:solidFill>
                <a:latin typeface="Encode Sans Normal"/>
              </a:rPr>
              <a:t>When Is It Worth Training Your Own Model?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2098548" y="5303519"/>
            <a:ext cx="26060400" cy="5130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880">
                <a:solidFill>
                  <a:srgbClr val="FFFFFF"/>
                </a:solidFill>
                <a:latin typeface="Uni Sans Book"/>
              </a:rPr>
              <a:t>Yoruba from scratch against multilingual transfer</a:t>
            </a:r>
          </a:p>
        </p:txBody>
      </p:sp>
      <p:sp>
        <p:nvSpPr>
          <p:cNvPr id="5" name="Header_Author"/>
          <p:cNvSpPr txBox="1">
            <a:spLocks/>
          </p:cNvSpPr>
          <p:nvPr/>
        </p:nvSpPr>
        <p:spPr>
          <a:xfrm>
            <a:off x="2098548" y="6364223"/>
            <a:ext cx="24688800" cy="3084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>
                <a:solidFill>
                  <a:srgbClr val="E8D3A2"/>
                </a:solidFill>
                <a:latin typeface="Open Sans"/>
              </a:rPr>
              <a:t>A2-NLP Project Team · CSED 504 · University of Washington · Summer 2026</a:t>
            </a:r>
          </a:p>
        </p:txBody>
      </p:sp>
      <p:sp>
        <p:nvSpPr>
          <p:cNvPr id="6" name="Takeaway_Background"/>
          <p:cNvSpPr>
            <a:spLocks/>
          </p:cNvSpPr>
          <p:nvPr/>
        </p:nvSpPr>
        <p:spPr>
          <a:xfrm>
            <a:off x="2057400" y="9326880"/>
            <a:ext cx="28803600" cy="1414272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keaway_Label"/>
          <p:cNvSpPr txBox="1">
            <a:spLocks/>
          </p:cNvSpPr>
          <p:nvPr/>
        </p:nvSpPr>
        <p:spPr>
          <a:xfrm>
            <a:off x="2441448" y="9893355"/>
            <a:ext cx="2125980" cy="33009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680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8" name="Takeaway_Text"/>
          <p:cNvSpPr txBox="1">
            <a:spLocks/>
          </p:cNvSpPr>
          <p:nvPr/>
        </p:nvSpPr>
        <p:spPr>
          <a:xfrm>
            <a:off x="4416552" y="9836229"/>
            <a:ext cx="26060400" cy="4565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480" b="1">
                <a:solidFill>
                  <a:srgbClr val="1F1F24"/>
                </a:solidFill>
                <a:latin typeface="Open Sans"/>
              </a:rPr>
              <a:t>A 33.8M-parameter Yoruba model is ahead of mmBERT on topic classification; the strongest evidence points to vocabulary fit—not text scarcity—as the leverage.</a:t>
            </a:r>
          </a:p>
        </p:txBody>
      </p:sp>
      <p:sp>
        <p:nvSpPr>
          <p:cNvPr id="9" name="EditorialHeadline_Frame"/>
          <p:cNvSpPr>
            <a:spLocks/>
          </p:cNvSpPr>
          <p:nvPr/>
        </p:nvSpPr>
        <p:spPr>
          <a:xfrm>
            <a:off x="2057400" y="11216640"/>
            <a:ext cx="19751041" cy="1261872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EditorialHeadline_Label"/>
          <p:cNvSpPr txBox="1">
            <a:spLocks/>
          </p:cNvSpPr>
          <p:nvPr/>
        </p:nvSpPr>
        <p:spPr>
          <a:xfrm>
            <a:off x="2359152" y="11362943"/>
            <a:ext cx="19147535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THE RESULT</a:t>
            </a:r>
          </a:p>
        </p:txBody>
      </p:sp>
      <p:sp>
        <p:nvSpPr>
          <p:cNvPr id="11" name="EditorialStatsBox"/>
          <p:cNvSpPr>
            <a:spLocks/>
          </p:cNvSpPr>
          <p:nvPr/>
        </p:nvSpPr>
        <p:spPr>
          <a:xfrm>
            <a:off x="22384513" y="11216640"/>
            <a:ext cx="8476488" cy="1261872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ditorialStatsLabel"/>
          <p:cNvSpPr txBox="1">
            <a:spLocks/>
          </p:cNvSpPr>
          <p:nvPr/>
        </p:nvSpPr>
        <p:spPr>
          <a:xfrm>
            <a:off x="23015448" y="11850624"/>
            <a:ext cx="7200900" cy="2979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70" b="1">
                <a:solidFill>
                  <a:srgbClr val="E8D3A2"/>
                </a:solidFill>
                <a:latin typeface="Uni Sans Book"/>
              </a:rPr>
              <a:t>READ THE RESULT AS A PAIR</a:t>
            </a:r>
          </a:p>
        </p:txBody>
      </p:sp>
      <p:sp>
        <p:nvSpPr>
          <p:cNvPr id="13" name="EditorialStat1"/>
          <p:cNvSpPr txBox="1">
            <a:spLocks/>
          </p:cNvSpPr>
          <p:nvPr/>
        </p:nvSpPr>
        <p:spPr>
          <a:xfrm>
            <a:off x="23070313" y="12862560"/>
            <a:ext cx="7063739" cy="8804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40" b="1">
                <a:solidFill>
                  <a:srgbClr val="FFFFFF"/>
                </a:solidFill>
                <a:latin typeface="Encode Sans Normal"/>
              </a:rPr>
              <a:t>0.688</a:t>
            </a:r>
          </a:p>
        </p:txBody>
      </p:sp>
      <p:sp>
        <p:nvSpPr>
          <p:cNvPr id="14" name="EditorialStat1Label"/>
          <p:cNvSpPr txBox="1">
            <a:spLocks/>
          </p:cNvSpPr>
          <p:nvPr/>
        </p:nvSpPr>
        <p:spPr>
          <a:xfrm>
            <a:off x="23070313" y="14484096"/>
            <a:ext cx="7063739" cy="59445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48" b="1">
                <a:solidFill>
                  <a:srgbClr val="E8D3A2"/>
                </a:solidFill>
                <a:latin typeface="Open Sans"/>
              </a:rPr>
              <a:t>topic macro-F1
from scratch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24003000" y="16154400"/>
            <a:ext cx="5212080" cy="1270"/>
          </a:xfrm>
          <a:prstGeom prst="line">
            <a:avLst/>
          </a:prstGeom>
          <a:ln w="13547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orialStat2"/>
          <p:cNvSpPr txBox="1">
            <a:spLocks/>
          </p:cNvSpPr>
          <p:nvPr/>
        </p:nvSpPr>
        <p:spPr>
          <a:xfrm>
            <a:off x="23070313" y="16605504"/>
            <a:ext cx="7063739" cy="8804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40" b="1">
                <a:solidFill>
                  <a:srgbClr val="FFFFFF"/>
                </a:solidFill>
                <a:latin typeface="Encode Sans Normal"/>
              </a:rPr>
              <a:t>0.837</a:t>
            </a:r>
          </a:p>
        </p:txBody>
      </p:sp>
      <p:sp>
        <p:nvSpPr>
          <p:cNvPr id="17" name="EditorialStat2Label"/>
          <p:cNvSpPr txBox="1">
            <a:spLocks/>
          </p:cNvSpPr>
          <p:nvPr/>
        </p:nvSpPr>
        <p:spPr>
          <a:xfrm>
            <a:off x="23070313" y="18227041"/>
            <a:ext cx="7063739" cy="59445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48" b="1">
                <a:solidFill>
                  <a:srgbClr val="E8D3A2"/>
                </a:solidFill>
                <a:latin typeface="Open Sans"/>
              </a:rPr>
              <a:t>entity F1
from scratch</a:t>
            </a:r>
          </a:p>
        </p:txBody>
      </p:sp>
      <p:sp>
        <p:nvSpPr>
          <p:cNvPr id="18" name="EditorialStatNote"/>
          <p:cNvSpPr txBox="1">
            <a:spLocks/>
          </p:cNvSpPr>
          <p:nvPr/>
        </p:nvSpPr>
        <p:spPr>
          <a:xfrm>
            <a:off x="22974300" y="20177758"/>
            <a:ext cx="7338061" cy="6298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60">
                <a:solidFill>
                  <a:srgbClr val="FFFFFF"/>
                </a:solidFill>
                <a:latin typeface="Open Sans"/>
              </a:rPr>
              <a:t>Ahead of mmBERT on topic; slightly behind on entities. The disagreement is part of the finding.</a:t>
            </a:r>
          </a:p>
        </p:txBody>
      </p:sp>
      <p:sp>
        <p:nvSpPr>
          <p:cNvPr id="19" name="EditorialGradient_Frame"/>
          <p:cNvSpPr>
            <a:spLocks/>
          </p:cNvSpPr>
          <p:nvPr/>
        </p:nvSpPr>
        <p:spPr>
          <a:xfrm>
            <a:off x="2057400" y="24444959"/>
            <a:ext cx="18036539" cy="102412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ditorialGradient_Label"/>
          <p:cNvSpPr txBox="1">
            <a:spLocks/>
          </p:cNvSpPr>
          <p:nvPr/>
        </p:nvSpPr>
        <p:spPr>
          <a:xfrm>
            <a:off x="2359152" y="24591263"/>
            <a:ext cx="17433035" cy="2836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376" b="1">
                <a:solidFill>
                  <a:srgbClr val="32006E"/>
                </a:solidFill>
                <a:latin typeface="Uni Sans Book"/>
              </a:rPr>
              <a:t>THE MECHANISM</a:t>
            </a:r>
          </a:p>
        </p:txBody>
      </p:sp>
      <p:sp>
        <p:nvSpPr>
          <p:cNvPr id="21" name="EditorialMechanism_Box"/>
          <p:cNvSpPr>
            <a:spLocks/>
          </p:cNvSpPr>
          <p:nvPr/>
        </p:nvSpPr>
        <p:spPr>
          <a:xfrm>
            <a:off x="20683728" y="24444959"/>
            <a:ext cx="10177272" cy="10241280"/>
          </a:xfrm>
          <a:prstGeom prst="roundRect">
            <a:avLst/>
          </a:prstGeom>
          <a:solidFill>
            <a:srgbClr val="F8F2E4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ditorialMechanism_Accent"/>
          <p:cNvSpPr>
            <a:spLocks/>
          </p:cNvSpPr>
          <p:nvPr/>
        </p:nvSpPr>
        <p:spPr>
          <a:xfrm>
            <a:off x="20683728" y="24444959"/>
            <a:ext cx="150876" cy="10241280"/>
          </a:xfrm>
          <a:prstGeom prst="rect">
            <a:avLst/>
          </a:prstGeom>
          <a:solidFill>
            <a:srgbClr val="F06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EditorialMechanism_Heading"/>
          <p:cNvSpPr txBox="1">
            <a:spLocks/>
          </p:cNvSpPr>
          <p:nvPr/>
        </p:nvSpPr>
        <p:spPr>
          <a:xfrm>
            <a:off x="21095208" y="24774145"/>
            <a:ext cx="9381744" cy="52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40" b="1">
                <a:solidFill>
                  <a:srgbClr val="F0652F"/>
                </a:solidFill>
                <a:latin typeface="Encode Sans Normal"/>
              </a:rPr>
              <a:t>Why vocabulary fit</a:t>
            </a:r>
          </a:p>
        </p:txBody>
      </p:sp>
      <p:sp>
        <p:nvSpPr>
          <p:cNvPr id="24" name="EditorialMechanism_Body"/>
          <p:cNvSpPr txBox="1">
            <a:spLocks/>
          </p:cNvSpPr>
          <p:nvPr/>
        </p:nvSpPr>
        <p:spPr>
          <a:xfrm>
            <a:off x="21095208" y="25786079"/>
            <a:ext cx="9381744" cy="311130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12">
                <a:solidFill>
                  <a:srgbClr val="1F1F24"/>
                </a:solidFill>
                <a:latin typeface="Open Sans"/>
              </a:rPr>
              <a:t>XLM-R needs 1.76 tokens for each token used by a Yoruba-specific 16k BPE—second-highest among 17 languages. A 128-token window holds about 44 Yoruba words with XLM-R versus 77 with the fitted vocabulary. Across languages, this penalty tracks XLM-R coverage.
Holding architecture, Yoruba text and compute fixed, swapping only the vocabulary changed downstream scores. The 16k vocabulary led the 250k XLM-R vocabulary by +0.144 on SIB-200 and +0.061 on MasakhaNER; every seed won in both tasks (four seeds per arm, exact p=0.029).</a:t>
            </a:r>
          </a:p>
        </p:txBody>
      </p:sp>
      <p:sp>
        <p:nvSpPr>
          <p:cNvPr id="25" name="EditorialData_Box"/>
          <p:cNvSpPr>
            <a:spLocks/>
          </p:cNvSpPr>
          <p:nvPr/>
        </p:nvSpPr>
        <p:spPr>
          <a:xfrm>
            <a:off x="2057400" y="35234882"/>
            <a:ext cx="9217152" cy="7022592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ditorialData_Accent"/>
          <p:cNvSpPr>
            <a:spLocks/>
          </p:cNvSpPr>
          <p:nvPr/>
        </p:nvSpPr>
        <p:spPr>
          <a:xfrm>
            <a:off x="2057400" y="35234882"/>
            <a:ext cx="150876" cy="702259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ditorialData_Heading"/>
          <p:cNvSpPr txBox="1">
            <a:spLocks/>
          </p:cNvSpPr>
          <p:nvPr/>
        </p:nvSpPr>
        <p:spPr>
          <a:xfrm>
            <a:off x="2468880" y="35564065"/>
            <a:ext cx="8421624" cy="465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640" b="1">
                <a:solidFill>
                  <a:srgbClr val="32006E"/>
                </a:solidFill>
                <a:latin typeface="Encode Sans Normal"/>
              </a:rPr>
              <a:t>Text is not the bottleneck</a:t>
            </a:r>
          </a:p>
        </p:txBody>
      </p:sp>
      <p:sp>
        <p:nvSpPr>
          <p:cNvPr id="28" name="EditorialData_Body"/>
          <p:cNvSpPr txBox="1">
            <a:spLocks/>
          </p:cNvSpPr>
          <p:nvPr/>
        </p:nvSpPr>
        <p:spPr>
          <a:xfrm>
            <a:off x="2468880" y="36575999"/>
            <a:ext cx="8421624" cy="18032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60">
                <a:solidFill>
                  <a:srgbClr val="1F1F24"/>
                </a:solidFill>
                <a:latin typeface="Open Sans"/>
              </a:rPr>
              <a:t>FineWeb-2 contains 69.1M Yoruba tokens. At fixed compute, an English control gained nothing measurable from 64M to 1,024M tokens, and Yoruba’s 16M→64M change also sat inside seed variation. At these budgets, lack of additional text does not explain the result.</a:t>
            </a:r>
          </a:p>
        </p:txBody>
      </p:sp>
      <p:sp>
        <p:nvSpPr>
          <p:cNvPr id="29" name="EditorialVariance_Box"/>
          <p:cNvSpPr>
            <a:spLocks/>
          </p:cNvSpPr>
          <p:nvPr/>
        </p:nvSpPr>
        <p:spPr>
          <a:xfrm>
            <a:off x="11850624" y="35234882"/>
            <a:ext cx="9217152" cy="7022592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ditorialVariance_Accent"/>
          <p:cNvSpPr>
            <a:spLocks/>
          </p:cNvSpPr>
          <p:nvPr/>
        </p:nvSpPr>
        <p:spPr>
          <a:xfrm>
            <a:off x="11850624" y="35234882"/>
            <a:ext cx="150876" cy="702259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ditorialVariance_Heading"/>
          <p:cNvSpPr txBox="1">
            <a:spLocks/>
          </p:cNvSpPr>
          <p:nvPr/>
        </p:nvSpPr>
        <p:spPr>
          <a:xfrm>
            <a:off x="12262104" y="35564065"/>
            <a:ext cx="8421624" cy="465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640" b="1">
                <a:solidFill>
                  <a:srgbClr val="32006E"/>
                </a:solidFill>
                <a:latin typeface="Encode Sans Normal"/>
              </a:rPr>
              <a:t>Means and variability</a:t>
            </a:r>
          </a:p>
        </p:txBody>
      </p:sp>
      <p:sp>
        <p:nvSpPr>
          <p:cNvPr id="32" name="EditorialVariance_Body"/>
          <p:cNvSpPr txBox="1">
            <a:spLocks/>
          </p:cNvSpPr>
          <p:nvPr/>
        </p:nvSpPr>
        <p:spPr>
          <a:xfrm>
            <a:off x="12262104" y="36576000"/>
            <a:ext cx="8421624" cy="17647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12">
                <a:solidFill>
                  <a:srgbClr val="1F1F24"/>
                </a:solidFill>
                <a:latin typeface="Open Sans"/>
              </a:rPr>
              <a:t>The pretraining mean did not separate after six registered seeds (0.930 vs 0.989 bits/char; p=0.374). Variability did: sd 0.037 versus 0.145 (F=15.1, p=0.0098). A poorly fitted vocabulary is not a guaranteed loss penalty; it makes an individual run less predictable.</a:t>
            </a:r>
          </a:p>
        </p:txBody>
      </p:sp>
      <p:sp>
        <p:nvSpPr>
          <p:cNvPr id="33" name="EditorialScope_Box"/>
          <p:cNvSpPr>
            <a:spLocks/>
          </p:cNvSpPr>
          <p:nvPr/>
        </p:nvSpPr>
        <p:spPr>
          <a:xfrm>
            <a:off x="21643848" y="35234882"/>
            <a:ext cx="9217152" cy="7022592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ditorialScope_Accent"/>
          <p:cNvSpPr>
            <a:spLocks/>
          </p:cNvSpPr>
          <p:nvPr/>
        </p:nvSpPr>
        <p:spPr>
          <a:xfrm>
            <a:off x="21643848" y="35234882"/>
            <a:ext cx="150876" cy="7022592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ditorialScope_Heading"/>
          <p:cNvSpPr txBox="1">
            <a:spLocks/>
          </p:cNvSpPr>
          <p:nvPr/>
        </p:nvSpPr>
        <p:spPr>
          <a:xfrm>
            <a:off x="22055327" y="35564065"/>
            <a:ext cx="8421624" cy="4653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640" b="1">
                <a:solidFill>
                  <a:srgbClr val="32006E"/>
                </a:solidFill>
                <a:latin typeface="Encode Sans Normal"/>
              </a:rPr>
              <a:t>Scope</a:t>
            </a:r>
          </a:p>
        </p:txBody>
      </p:sp>
      <p:sp>
        <p:nvSpPr>
          <p:cNvPr id="36" name="EditorialScope_Body"/>
          <p:cNvSpPr txBox="1">
            <a:spLocks/>
          </p:cNvSpPr>
          <p:nvPr/>
        </p:nvSpPr>
        <p:spPr>
          <a:xfrm>
            <a:off x="22055327" y="36576000"/>
            <a:ext cx="8421624" cy="17647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112">
                <a:solidFill>
                  <a:srgbClr val="1F1F24"/>
                </a:solidFill>
                <a:latin typeface="Open Sans"/>
              </a:rPr>
              <a:t>Causal downstream evidence is still Yoruba-only. SIB-200 has just 204 test items, and NER did not receive the same dev-selection protocol. The next decisive test is the matched-compute vocabulary swap across four or five languages spanning the coverage gradient.</a:t>
            </a:r>
          </a:p>
        </p:txBody>
      </p:sp>
      <p:cxnSp>
        <p:nvCxnSpPr>
          <p:cNvPr id="37" name="Connector 36"/>
          <p:cNvCxnSpPr>
            <a:cxnSpLocks/>
          </p:cNvCxnSpPr>
          <p:nvPr/>
        </p:nvCxnSpPr>
        <p:spPr>
          <a:xfrm>
            <a:off x="2057400" y="42867073"/>
            <a:ext cx="288036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ooter_Sources"/>
          <p:cNvSpPr txBox="1">
            <a:spLocks/>
          </p:cNvSpPr>
          <p:nvPr/>
        </p:nvSpPr>
        <p:spPr>
          <a:xfrm>
            <a:off x="2057400" y="42988992"/>
            <a:ext cx="25648921" cy="251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52">
                <a:solidFill>
                  <a:srgbClr val="5E5A66"/>
                </a:solidFill>
                <a:latin typeface="Open Sans"/>
              </a:rPr>
              <a:t>Data: FineWeb-2 Yoruba, SIB-200, MasakhaNER · Models: XLM-R base, mmBERT base · Source: reports/13-the-top-board.md and committed runs/ records · 11 Aug 2026</a:t>
            </a:r>
          </a:p>
        </p:txBody>
      </p:sp>
      <p:sp>
        <p:nvSpPr>
          <p:cNvPr id="39" name="Footer_Tag"/>
          <p:cNvSpPr txBox="1">
            <a:spLocks/>
          </p:cNvSpPr>
          <p:nvPr/>
        </p:nvSpPr>
        <p:spPr>
          <a:xfrm>
            <a:off x="27432000" y="42988991"/>
            <a:ext cx="3429000" cy="264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48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41" name="Embedded_01_EditorialHeadline" descr="reports\figures\01-headline.svg">
            <a:extLst>
              <a:ext uri="{FF2B5EF4-FFF2-40B4-BE49-F238E27FC236}">
                <a16:creationId xmlns:a16="http://schemas.microsoft.com/office/drawing/2014/main" id="{11C74E09-9C02-485B-A2A8-FDD1D8D64DE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7559" y="13319100"/>
            <a:ext cx="17190723" cy="8925864"/>
          </a:xfrm>
          <a:prstGeom prst="rect">
            <a:avLst/>
          </a:prstGeom>
        </p:spPr>
      </p:pic>
      <p:pic>
        <p:nvPicPr>
          <p:cNvPr id="43" name="Embedded_02_EditorialGradient" descr="reports\figures\02-tokenizer-gradient.svg">
            <a:extLst>
              <a:ext uri="{FF2B5EF4-FFF2-40B4-BE49-F238E27FC236}">
                <a16:creationId xmlns:a16="http://schemas.microsoft.com/office/drawing/2014/main" id="{F3AF60B6-6AB3-CF94-E094-9B78E841D12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0647" y="25139904"/>
            <a:ext cx="13610045" cy="936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394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30</cp:revision>
  <dcterms:created xsi:type="dcterms:W3CDTF">2018-02-07T04:27:03Z</dcterms:created>
  <dcterms:modified xsi:type="dcterms:W3CDTF">2026-08-13T04:54:35Z</dcterms:modified>
</cp:coreProperties>
</file>