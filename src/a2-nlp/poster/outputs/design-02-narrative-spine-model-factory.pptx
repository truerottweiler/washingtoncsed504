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7" r:id="rId2"/>
  </p:sldIdLst>
  <p:sldSz cx="32918400" cy="43891200"/>
  <p:notesSz cx="6858000" cy="9144000"/>
  <p:embeddedFontLst>
    <p:embeddedFont>
      <p:font typeface="Encode Sans Normal" panose="02000000000000000000" pitchFamily="2" charset="0"/>
      <p:bold r:id="rId4"/>
    </p:embeddedFont>
    <p:embeddedFont>
      <p:font typeface="Encode Sans Normal Black" panose="02000000000000000000" pitchFamily="2" charset="0"/>
      <p:bold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Uni Sans Book" panose="00000500000000000000" pitchFamily="50" charset="0"/>
      <p:regular r:id="rId10"/>
    </p:embeddedFont>
    <p:embeddedFont>
      <p:font typeface="Uni Sans Regular" panose="00000500000000000000" pitchFamily="50" charset="0"/>
      <p:regular r:id="rId11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4" orient="horz" pos="26496" userDrawn="1">
          <p15:clr>
            <a:srgbClr val="A4A3A4"/>
          </p15:clr>
        </p15:guide>
        <p15:guide id="5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22" d="100"/>
          <a:sy n="22" d="100"/>
        </p:scale>
        <p:origin x="3150" y="84"/>
      </p:cViewPr>
      <p:guideLst>
        <p:guide orient="horz" pos="1152"/>
        <p:guide orient="horz" pos="26496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1036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19194586"/>
            <a:ext cx="1270" cy="22867815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12F8DD-C637-AC85-8962-75BB2A75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19163321"/>
            <a:ext cx="1270" cy="22899078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64E4A0-FA72-6823-8071-B7819EC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57400" y="18475568"/>
            <a:ext cx="28803600" cy="1270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White University of Washington wordmark">
            <a:extLst>
              <a:ext uri="{FF2B5EF4-FFF2-40B4-BE49-F238E27FC236}">
                <a16:creationId xmlns:a16="http://schemas.microsoft.com/office/drawing/2014/main" id="{06BF856D-318F-5648-4D5F-55F36A7B7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492" y="1843072"/>
            <a:ext cx="8580558" cy="503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020" y="1385743"/>
            <a:ext cx="4183380" cy="250342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2057401" y="2849605"/>
            <a:ext cx="25436945" cy="3902507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469213"/>
            <a:ext cx="5815584" cy="12679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07407" y="8424333"/>
            <a:ext cx="28753594" cy="1126067"/>
          </a:xfrm>
        </p:spPr>
        <p:txBody>
          <a:bodyPr lIns="121920" tIns="60960" rIns="121920" bIns="60960"/>
          <a:lstStyle>
            <a:lvl1pPr marL="0" indent="0">
              <a:buNone/>
              <a:defRPr sz="48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280238"/>
            <a:ext cx="13608842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52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7" y="13509969"/>
            <a:ext cx="13608842" cy="4486137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202150" y="11279718"/>
            <a:ext cx="13658850" cy="58906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64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202150" y="17396884"/>
            <a:ext cx="13658852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9194585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0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57403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86613" y="28246918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-979356" y="31098600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057057" y="34245553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9017382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001500" y="19194585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2023482" y="20878800"/>
            <a:ext cx="8893418" cy="7584017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44363" y="29506983"/>
            <a:ext cx="8829646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1500" y="30866048"/>
            <a:ext cx="891540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1502" y="32390597"/>
            <a:ext cx="8987471" cy="3640089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2001500" y="36493934"/>
            <a:ext cx="8915400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008986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7272863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453033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7272863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17050" y="1919458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111730" y="28449057"/>
            <a:ext cx="8714737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19079563" y="3125625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158866" y="34403205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22642751" y="29232464"/>
            <a:ext cx="8218251" cy="517074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54621" y="35681137"/>
            <a:ext cx="8706379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125381" y="37091370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2125382" y="38615922"/>
            <a:ext cx="8714737" cy="3556460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CE31BD-1261-01C7-4870-B6860CC81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883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B055B-085B-76FB-DE60-7304A9BF5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9948674"/>
            <a:ext cx="1270" cy="32113727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5DD99A-053C-87B2-55AC-3DA6C3980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9997440"/>
            <a:ext cx="1270" cy="32064961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White Block W and University of Washington wordmark">
            <a:extLst>
              <a:ext uri="{FF2B5EF4-FFF2-40B4-BE49-F238E27FC236}">
                <a16:creationId xmlns:a16="http://schemas.microsoft.com/office/drawing/2014/main" id="{A228B37B-943D-418F-7FEB-547899E5FF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538" y="1857483"/>
            <a:ext cx="13727862" cy="9583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86BECF-CA9C-0683-E48A-FD679FF854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57400" y="3214253"/>
            <a:ext cx="28180147" cy="3316182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10B298-2CC4-0C2E-86C9-441EA8DB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225373"/>
            <a:ext cx="5815584" cy="1267968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1D5D6CC3-BEED-BD27-6C46-B0663A0BA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0158750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DBAB74E-5E42-7923-CC94-0F34EC9099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723319"/>
            <a:ext cx="8693943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352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 DONEC VULPUTATE CONDIMENTUM EGESTAS. 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7007CD-9973-B2FC-A5CB-B8CE9574C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8" y="13902252"/>
            <a:ext cx="8693941" cy="6062148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id dictum sit </a:t>
            </a:r>
            <a:r>
              <a:rPr lang="en-US" dirty="0" err="1"/>
              <a:t>amet</a:t>
            </a:r>
            <a:r>
              <a:rPr lang="en-US" dirty="0"/>
              <a:t>, convallis </a:t>
            </a:r>
            <a:r>
              <a:rPr lang="en-US" dirty="0" err="1"/>
              <a:t>eget</a:t>
            </a:r>
            <a:r>
              <a:rPr lang="en-US" dirty="0"/>
              <a:t> est.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Nam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ac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lacinia, lorem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dolor, vitae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A98C435C-8908-B97A-76D4-D6DB29984D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057402" y="20983992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79FB6562-08B0-6BB9-C44F-C0F30B6BEA8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-979356" y="23882016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C4CE3BA-1EE8-D262-6E5E-4652CE673C2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057057" y="27028967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7" name="Chart Placeholder 56">
            <a:extLst>
              <a:ext uri="{FF2B5EF4-FFF2-40B4-BE49-F238E27FC236}">
                <a16:creationId xmlns:a16="http://schemas.microsoft.com/office/drawing/2014/main" id="{BADB8C7C-0E23-3926-3D2C-758688F5DEA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1800801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7D1E5C0D-2823-2439-0CE6-DBCBE0A4CA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2" y="2818976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A0924CD-9C6B-E18B-588B-3230C7F50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71048" y="296744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32E876E-E757-F00B-D4CF-CB152F48FEE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71051" y="31198967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A759DEA8-363A-5788-13D6-BAA6DEF4EDA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7595F79E-4155-D64E-A866-A2B0CF0264C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72DCC1DA-F0D7-6242-4551-C5086F5BEF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001500" y="9926353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A8065ACB-5149-0060-A91F-9F0DB375A9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023482" y="11610568"/>
            <a:ext cx="8893418" cy="9181833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E45B7AE5-B4D9-43F5-4F01-11483284B8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023482" y="21560366"/>
            <a:ext cx="8893418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5AC8CF6-F7F8-FE46-244E-102985BEA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9832" y="2309879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A1E8A01-A0BF-3968-1D37-C84A031745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9835" y="24623347"/>
            <a:ext cx="8714737" cy="6085253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2AD14CD3-CC8A-ED17-DE0A-8BC17A4BB6E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2039043" y="31743650"/>
            <a:ext cx="8848641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57858A04-198D-38A3-311C-D02DAC1AF62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2008986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3" name="Chart Placeholder 56">
            <a:extLst>
              <a:ext uri="{FF2B5EF4-FFF2-40B4-BE49-F238E27FC236}">
                <a16:creationId xmlns:a16="http://schemas.microsoft.com/office/drawing/2014/main" id="{B5195A7A-BFD3-0FB4-A879-8C93AC12673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2558031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36" name="Text Placeholder 54">
            <a:extLst>
              <a:ext uri="{FF2B5EF4-FFF2-40B4-BE49-F238E27FC236}">
                <a16:creationId xmlns:a16="http://schemas.microsoft.com/office/drawing/2014/main" id="{C53D7DD7-8094-D8F1-C48C-9753AB2EBB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453033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4" name="Chart Placeholder 56">
            <a:extLst>
              <a:ext uri="{FF2B5EF4-FFF2-40B4-BE49-F238E27FC236}">
                <a16:creationId xmlns:a16="http://schemas.microsoft.com/office/drawing/2014/main" id="{DDDA2AA0-06BB-5257-F736-3072D176A92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2558031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1F69A9E-4C8E-A391-EB1C-E7C8FE9E9F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008986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7" name="Chart Placeholder 56">
            <a:extLst>
              <a:ext uri="{FF2B5EF4-FFF2-40B4-BE49-F238E27FC236}">
                <a16:creationId xmlns:a16="http://schemas.microsoft.com/office/drawing/2014/main" id="{585DD6A7-862A-F749-6118-1098A3E67C53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>
          <a:xfrm>
            <a:off x="12044333" y="37457549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45459B19-7D55-12D0-82F5-1899380FF2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453033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8" name="Chart Placeholder 56">
            <a:extLst>
              <a:ext uri="{FF2B5EF4-FFF2-40B4-BE49-F238E27FC236}">
                <a16:creationId xmlns:a16="http://schemas.microsoft.com/office/drawing/2014/main" id="{52090A6A-FE82-5CC4-B526-1E4F4A059555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>
          <a:xfrm>
            <a:off x="16484203" y="37457549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5F39BFE-7880-4CFA-5B86-0E0BCF39ECC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117050" y="10158750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35003E1-BD0C-90E4-931B-8FF586C8B8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11541798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316AAB3-86F7-D1E3-75AF-012259D3215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1306634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92A34F02-72AE-2E84-74A6-A24280D3B88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2124746" y="19221450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687A1E32-F833-4A95-287B-35E2FC0B03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19108778" y="2207101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4148A62B-5C7A-45E1-CD43-1745481A9A3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2145191" y="25217969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0" name="Chart Placeholder 56">
            <a:extLst>
              <a:ext uri="{FF2B5EF4-FFF2-40B4-BE49-F238E27FC236}">
                <a16:creationId xmlns:a16="http://schemas.microsoft.com/office/drawing/2014/main" id="{8EAAA307-E66D-6D2A-72EC-9C487AE6FD1D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>
          <a:xfrm>
            <a:off x="22676555" y="19989800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5" name="Picture Placeholder 18">
            <a:extLst>
              <a:ext uri="{FF2B5EF4-FFF2-40B4-BE49-F238E27FC236}">
                <a16:creationId xmlns:a16="http://schemas.microsoft.com/office/drawing/2014/main" id="{64B201F0-35F2-A5C8-8AA9-511E0422913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22117050" y="26638638"/>
            <a:ext cx="8714739" cy="725929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DCA07C6B-6406-FE3E-BBEC-8805A6B1233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2117053" y="34055831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81535374-FDCA-80A8-D1B0-E84EB9E639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117050" y="35708168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D2466F7-BF85-266C-634A-BB4ADE11D1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096171" y="371420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D920A2F-995B-EE12-F87A-9D3BA66A908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096173" y="38666564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  <p:extLst>
      <p:ext uri="{BB962C8B-B14F-4D97-AF65-F5344CB8AC3E}">
        <p14:creationId xmlns:p14="http://schemas.microsoft.com/office/powerpoint/2010/main" val="423981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88" y="2336800"/>
            <a:ext cx="28394025" cy="848360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2188" y="11684000"/>
            <a:ext cx="28394025" cy="27848982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8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824" userDrawn="1">
          <p15:clr>
            <a:srgbClr val="F26B43"/>
          </p15:clr>
        </p15:guide>
        <p15:guide id="2" pos="1296" userDrawn="1">
          <p15:clr>
            <a:srgbClr val="F26B43"/>
          </p15:clr>
        </p15:guide>
        <p15:guide id="3" pos="19440" userDrawn="1">
          <p15:clr>
            <a:srgbClr val="F26B43"/>
          </p15:clr>
        </p15:guide>
        <p15:guide id="4" pos="6804" userDrawn="1">
          <p15:clr>
            <a:srgbClr val="F26B43"/>
          </p15:clr>
        </p15:guide>
        <p15:guide id="5" pos="7560" userDrawn="1">
          <p15:clr>
            <a:srgbClr val="F26B43"/>
          </p15:clr>
        </p15:guide>
        <p15:guide id="6" pos="13176" userDrawn="1">
          <p15:clr>
            <a:srgbClr val="F26B43"/>
          </p15:clr>
        </p15:guide>
        <p15:guide id="7" pos="139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LabelCover"/>
          <p:cNvSpPr>
            <a:spLocks/>
          </p:cNvSpPr>
          <p:nvPr/>
        </p:nvSpPr>
        <p:spPr>
          <a:xfrm>
            <a:off x="1947671" y="1341120"/>
            <a:ext cx="5966458" cy="3657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Title"/>
          <p:cNvSpPr txBox="1">
            <a:spLocks/>
          </p:cNvSpPr>
          <p:nvPr/>
        </p:nvSpPr>
        <p:spPr>
          <a:xfrm>
            <a:off x="2057400" y="3203678"/>
            <a:ext cx="26471879" cy="1212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7680" b="1">
                <a:solidFill>
                  <a:srgbClr val="FFFFFF"/>
                </a:solidFill>
                <a:latin typeface="Encode Sans Normal"/>
              </a:rPr>
              <a:t>Building a Model Factory</a:t>
            </a:r>
          </a:p>
        </p:txBody>
      </p:sp>
      <p:sp>
        <p:nvSpPr>
          <p:cNvPr id="4" name="Header_Subtitle"/>
          <p:cNvSpPr txBox="1">
            <a:spLocks/>
          </p:cNvSpPr>
          <p:nvPr/>
        </p:nvSpPr>
        <p:spPr>
          <a:xfrm>
            <a:off x="2098548" y="5303519"/>
            <a:ext cx="26060400" cy="51302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880">
                <a:solidFill>
                  <a:srgbClr val="FFFFFF"/>
                </a:solidFill>
                <a:latin typeface="Uni Sans Book"/>
              </a:rPr>
              <a:t>From one-off notebooks to repeatable, challengeable experiments</a:t>
            </a:r>
          </a:p>
        </p:txBody>
      </p:sp>
      <p:sp>
        <p:nvSpPr>
          <p:cNvPr id="5" name="Header_Author"/>
          <p:cNvSpPr txBox="1">
            <a:spLocks/>
          </p:cNvSpPr>
          <p:nvPr/>
        </p:nvSpPr>
        <p:spPr>
          <a:xfrm>
            <a:off x="2098548" y="6364223"/>
            <a:ext cx="24688800" cy="3084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>
                <a:solidFill>
                  <a:srgbClr val="E8D3A2"/>
                </a:solidFill>
                <a:latin typeface="Open Sans"/>
              </a:rPr>
              <a:t>A2-NLP Project Team · CSED 504 · University of Washington · Summer 2026</a:t>
            </a:r>
          </a:p>
        </p:txBody>
      </p:sp>
      <p:sp>
        <p:nvSpPr>
          <p:cNvPr id="6" name="Takeaway_Background"/>
          <p:cNvSpPr>
            <a:spLocks/>
          </p:cNvSpPr>
          <p:nvPr/>
        </p:nvSpPr>
        <p:spPr>
          <a:xfrm>
            <a:off x="2057400" y="9083040"/>
            <a:ext cx="28803600" cy="1414272"/>
          </a:xfrm>
          <a:prstGeom prst="rect">
            <a:avLst/>
          </a:prstGeom>
          <a:solidFill>
            <a:srgbClr val="F8F2E4"/>
          </a:solidFill>
          <a:ln w="13547">
            <a:solidFill>
              <a:srgbClr val="E8D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akeaway_Label"/>
          <p:cNvSpPr txBox="1">
            <a:spLocks/>
          </p:cNvSpPr>
          <p:nvPr/>
        </p:nvSpPr>
        <p:spPr>
          <a:xfrm>
            <a:off x="2441448" y="9649515"/>
            <a:ext cx="2125980" cy="33009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680" b="1">
                <a:solidFill>
                  <a:srgbClr val="32006E"/>
                </a:solidFill>
                <a:latin typeface="Uni Sans Book"/>
              </a:rPr>
              <a:t>TAKEAWAY</a:t>
            </a:r>
          </a:p>
        </p:txBody>
      </p:sp>
      <p:sp>
        <p:nvSpPr>
          <p:cNvPr id="8" name="Takeaway_Text"/>
          <p:cNvSpPr txBox="1">
            <a:spLocks/>
          </p:cNvSpPr>
          <p:nvPr/>
        </p:nvSpPr>
        <p:spPr>
          <a:xfrm>
            <a:off x="4416552" y="9392013"/>
            <a:ext cx="26060400" cy="85728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480" b="1">
                <a:solidFill>
                  <a:srgbClr val="1F1F24"/>
                </a:solidFill>
                <a:latin typeface="Open Sans"/>
              </a:rPr>
              <a:t>The factory made hundreds of model comparisons affordable and auditable—then gave collaborators enough control to disprove results that initially looked convincing.</a:t>
            </a:r>
          </a:p>
        </p:txBody>
      </p:sp>
      <p:sp>
        <p:nvSpPr>
          <p:cNvPr id="9" name="NarrativeSpine"/>
          <p:cNvSpPr>
            <a:spLocks/>
          </p:cNvSpPr>
          <p:nvPr/>
        </p:nvSpPr>
        <p:spPr>
          <a:xfrm>
            <a:off x="12001500" y="10997184"/>
            <a:ext cx="9121139" cy="31235904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pineSpeed_Frame"/>
          <p:cNvSpPr>
            <a:spLocks/>
          </p:cNvSpPr>
          <p:nvPr/>
        </p:nvSpPr>
        <p:spPr>
          <a:xfrm>
            <a:off x="2057400" y="10997184"/>
            <a:ext cx="9326880" cy="10302239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pineSpeed_Label"/>
          <p:cNvSpPr txBox="1">
            <a:spLocks/>
          </p:cNvSpPr>
          <p:nvPr/>
        </p:nvSpPr>
        <p:spPr>
          <a:xfrm>
            <a:off x="2359152" y="11143486"/>
            <a:ext cx="8723375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MEASURE THE SPEEDUP</a:t>
            </a:r>
          </a:p>
        </p:txBody>
      </p:sp>
      <p:sp>
        <p:nvSpPr>
          <p:cNvPr id="12" name="SpinePipeline_Box"/>
          <p:cNvSpPr>
            <a:spLocks/>
          </p:cNvSpPr>
          <p:nvPr/>
        </p:nvSpPr>
        <p:spPr>
          <a:xfrm>
            <a:off x="2057400" y="21762720"/>
            <a:ext cx="9326880" cy="7620000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pinePipeline_Accent"/>
          <p:cNvSpPr>
            <a:spLocks/>
          </p:cNvSpPr>
          <p:nvPr/>
        </p:nvSpPr>
        <p:spPr>
          <a:xfrm>
            <a:off x="2057400" y="21762720"/>
            <a:ext cx="150876" cy="762000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pinePipeline_Heading"/>
          <p:cNvSpPr txBox="1">
            <a:spLocks/>
          </p:cNvSpPr>
          <p:nvPr/>
        </p:nvSpPr>
        <p:spPr>
          <a:xfrm>
            <a:off x="2468880" y="22091904"/>
            <a:ext cx="8531352" cy="50090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880" b="1">
                <a:solidFill>
                  <a:srgbClr val="32006E"/>
                </a:solidFill>
                <a:latin typeface="Encode Sans Normal"/>
              </a:rPr>
              <a:t>Split by cost</a:t>
            </a:r>
          </a:p>
        </p:txBody>
      </p:sp>
      <p:sp>
        <p:nvSpPr>
          <p:cNvPr id="15" name="SpinePipeline_Body"/>
          <p:cNvSpPr txBox="1">
            <a:spLocks/>
          </p:cNvSpPr>
          <p:nvPr/>
        </p:nvSpPr>
        <p:spPr>
          <a:xfrm>
            <a:off x="2468880" y="23103840"/>
            <a:ext cx="8531352" cy="18032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60">
                <a:solidFill>
                  <a:srgbClr val="1F1F24"/>
                </a:solidFill>
                <a:latin typeface="Open Sans"/>
              </a:rPr>
              <a:t>On the Yoruba corpus, reading, fitting the BPE, encoding 260M characters and moving the flat token store to GPU took 53 seconds. One 98M-parameter training run took 85 minutes—a 96× ratio that defines the boundary between interactive work and unattended queues.</a:t>
            </a:r>
          </a:p>
        </p:txBody>
      </p:sp>
      <p:sp>
        <p:nvSpPr>
          <p:cNvPr id="16" name="SpinePipelineFigure_Frame"/>
          <p:cNvSpPr>
            <a:spLocks/>
          </p:cNvSpPr>
          <p:nvPr/>
        </p:nvSpPr>
        <p:spPr>
          <a:xfrm>
            <a:off x="2057400" y="29846017"/>
            <a:ext cx="9326880" cy="12387073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pinePipelineFigure_Label"/>
          <p:cNvSpPr txBox="1">
            <a:spLocks/>
          </p:cNvSpPr>
          <p:nvPr/>
        </p:nvSpPr>
        <p:spPr>
          <a:xfrm>
            <a:off x="2359152" y="29992317"/>
            <a:ext cx="8723375" cy="2934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INTERACTIVE → UNATTENDED</a:t>
            </a:r>
          </a:p>
        </p:txBody>
      </p:sp>
      <p:sp>
        <p:nvSpPr>
          <p:cNvPr id="18" name="SpineLabel"/>
          <p:cNvSpPr txBox="1">
            <a:spLocks/>
          </p:cNvSpPr>
          <p:nvPr/>
        </p:nvSpPr>
        <p:spPr>
          <a:xfrm>
            <a:off x="12550139" y="11606783"/>
            <a:ext cx="8023861" cy="3178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E8D3A2"/>
                </a:solidFill>
                <a:latin typeface="Uni Sans Book"/>
              </a:rPr>
              <a:t>THE FACTORY LOOP</a:t>
            </a:r>
          </a:p>
        </p:txBody>
      </p:sp>
      <p:sp>
        <p:nvSpPr>
          <p:cNvPr id="19" name="Step0_Num"/>
          <p:cNvSpPr txBox="1">
            <a:spLocks/>
          </p:cNvSpPr>
          <p:nvPr/>
        </p:nvSpPr>
        <p:spPr>
          <a:xfrm>
            <a:off x="12755880" y="12765022"/>
            <a:ext cx="1577340" cy="4534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60" b="1">
                <a:solidFill>
                  <a:srgbClr val="E8D3A2"/>
                </a:solidFill>
                <a:latin typeface="Encode Sans Normal"/>
              </a:rPr>
              <a:t>01</a:t>
            </a:r>
          </a:p>
        </p:txBody>
      </p:sp>
      <p:sp>
        <p:nvSpPr>
          <p:cNvPr id="20" name="Step0_Title"/>
          <p:cNvSpPr txBox="1">
            <a:spLocks/>
          </p:cNvSpPr>
          <p:nvPr/>
        </p:nvSpPr>
        <p:spPr>
          <a:xfrm>
            <a:off x="14264639" y="12765022"/>
            <a:ext cx="6240780" cy="4534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60" b="1">
                <a:solidFill>
                  <a:srgbClr val="FFFFFF"/>
                </a:solidFill>
                <a:latin typeface="Encode Sans Normal"/>
              </a:rPr>
              <a:t>PREPARE</a:t>
            </a:r>
          </a:p>
        </p:txBody>
      </p:sp>
      <p:sp>
        <p:nvSpPr>
          <p:cNvPr id="21" name="Step0_Desc"/>
          <p:cNvSpPr txBox="1">
            <a:spLocks/>
          </p:cNvSpPr>
          <p:nvPr/>
        </p:nvSpPr>
        <p:spPr>
          <a:xfrm>
            <a:off x="14264639" y="13642847"/>
            <a:ext cx="6240780" cy="31303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>
                <a:solidFill>
                  <a:srgbClr val="E8D3A2"/>
                </a:solidFill>
                <a:latin typeface="Open Sans"/>
              </a:rPr>
              <a:t>tokenize once; fingerprint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16562071" y="14874241"/>
            <a:ext cx="1270" cy="1670303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ep1_Num"/>
          <p:cNvSpPr txBox="1">
            <a:spLocks/>
          </p:cNvSpPr>
          <p:nvPr/>
        </p:nvSpPr>
        <p:spPr>
          <a:xfrm>
            <a:off x="12755880" y="17093185"/>
            <a:ext cx="1577340" cy="4534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60" b="1">
                <a:solidFill>
                  <a:srgbClr val="E8D3A2"/>
                </a:solidFill>
                <a:latin typeface="Encode Sans Normal"/>
              </a:rPr>
              <a:t>02</a:t>
            </a:r>
          </a:p>
        </p:txBody>
      </p:sp>
      <p:sp>
        <p:nvSpPr>
          <p:cNvPr id="24" name="Step1_Title"/>
          <p:cNvSpPr txBox="1">
            <a:spLocks/>
          </p:cNvSpPr>
          <p:nvPr/>
        </p:nvSpPr>
        <p:spPr>
          <a:xfrm>
            <a:off x="14264639" y="17093185"/>
            <a:ext cx="6240780" cy="4534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60" b="1">
                <a:solidFill>
                  <a:srgbClr val="FFFFFF"/>
                </a:solidFill>
                <a:latin typeface="Encode Sans Normal"/>
              </a:rPr>
              <a:t>ESTIMATE</a:t>
            </a:r>
          </a:p>
        </p:txBody>
      </p:sp>
      <p:sp>
        <p:nvSpPr>
          <p:cNvPr id="25" name="Step1_Desc"/>
          <p:cNvSpPr txBox="1">
            <a:spLocks/>
          </p:cNvSpPr>
          <p:nvPr/>
        </p:nvSpPr>
        <p:spPr>
          <a:xfrm>
            <a:off x="14264639" y="17971007"/>
            <a:ext cx="6240780" cy="31303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>
                <a:solidFill>
                  <a:srgbClr val="E8D3A2"/>
                </a:solidFill>
                <a:latin typeface="Open Sans"/>
              </a:rPr>
              <a:t>measure this GPU</a:t>
            </a:r>
          </a:p>
        </p:txBody>
      </p:sp>
      <p:cxnSp>
        <p:nvCxnSpPr>
          <p:cNvPr id="26" name="Connector 25"/>
          <p:cNvCxnSpPr>
            <a:cxnSpLocks/>
          </p:cNvCxnSpPr>
          <p:nvPr/>
        </p:nvCxnSpPr>
        <p:spPr>
          <a:xfrm>
            <a:off x="16562071" y="19202400"/>
            <a:ext cx="1270" cy="1670304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ep2_Num"/>
          <p:cNvSpPr txBox="1">
            <a:spLocks/>
          </p:cNvSpPr>
          <p:nvPr/>
        </p:nvSpPr>
        <p:spPr>
          <a:xfrm>
            <a:off x="12755880" y="21421345"/>
            <a:ext cx="1577340" cy="4534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60" b="1">
                <a:solidFill>
                  <a:srgbClr val="E8D3A2"/>
                </a:solidFill>
                <a:latin typeface="Encode Sans Normal"/>
              </a:rPr>
              <a:t>03</a:t>
            </a:r>
          </a:p>
        </p:txBody>
      </p:sp>
      <p:sp>
        <p:nvSpPr>
          <p:cNvPr id="28" name="Step2_Title"/>
          <p:cNvSpPr txBox="1">
            <a:spLocks/>
          </p:cNvSpPr>
          <p:nvPr/>
        </p:nvSpPr>
        <p:spPr>
          <a:xfrm>
            <a:off x="14264639" y="21421345"/>
            <a:ext cx="6240780" cy="4534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60" b="1">
                <a:solidFill>
                  <a:srgbClr val="FFFFFF"/>
                </a:solidFill>
                <a:latin typeface="Encode Sans Normal"/>
              </a:rPr>
              <a:t>PRETRAIN</a:t>
            </a:r>
          </a:p>
        </p:txBody>
      </p:sp>
      <p:sp>
        <p:nvSpPr>
          <p:cNvPr id="29" name="Step2_Desc"/>
          <p:cNvSpPr txBox="1">
            <a:spLocks/>
          </p:cNvSpPr>
          <p:nvPr/>
        </p:nvSpPr>
        <p:spPr>
          <a:xfrm>
            <a:off x="14264639" y="22299167"/>
            <a:ext cx="6240780" cy="31303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>
                <a:solidFill>
                  <a:srgbClr val="E8D3A2"/>
                </a:solidFill>
                <a:latin typeface="Open Sans"/>
              </a:rPr>
              <a:t>one cell or a fleet</a:t>
            </a: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16562071" y="23530559"/>
            <a:ext cx="1270" cy="1670304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ep3_Num"/>
          <p:cNvSpPr txBox="1">
            <a:spLocks/>
          </p:cNvSpPr>
          <p:nvPr/>
        </p:nvSpPr>
        <p:spPr>
          <a:xfrm>
            <a:off x="12755880" y="25749504"/>
            <a:ext cx="1577340" cy="4534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60" b="1">
                <a:solidFill>
                  <a:srgbClr val="E8D3A2"/>
                </a:solidFill>
                <a:latin typeface="Encode Sans Normal"/>
              </a:rPr>
              <a:t>04</a:t>
            </a:r>
          </a:p>
        </p:txBody>
      </p:sp>
      <p:sp>
        <p:nvSpPr>
          <p:cNvPr id="32" name="Step3_Title"/>
          <p:cNvSpPr txBox="1">
            <a:spLocks/>
          </p:cNvSpPr>
          <p:nvPr/>
        </p:nvSpPr>
        <p:spPr>
          <a:xfrm>
            <a:off x="14264639" y="25749504"/>
            <a:ext cx="6240780" cy="4534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60" b="1">
                <a:solidFill>
                  <a:srgbClr val="FFFFFF"/>
                </a:solidFill>
                <a:latin typeface="Encode Sans Normal"/>
              </a:rPr>
              <a:t>READ</a:t>
            </a:r>
          </a:p>
        </p:txBody>
      </p:sp>
      <p:sp>
        <p:nvSpPr>
          <p:cNvPr id="33" name="Step3_Desc"/>
          <p:cNvSpPr txBox="1">
            <a:spLocks/>
          </p:cNvSpPr>
          <p:nvPr/>
        </p:nvSpPr>
        <p:spPr>
          <a:xfrm>
            <a:off x="14264639" y="26627326"/>
            <a:ext cx="6240780" cy="31303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>
                <a:solidFill>
                  <a:srgbClr val="E8D3A2"/>
                </a:solidFill>
                <a:latin typeface="Open Sans"/>
              </a:rPr>
              <a:t>curves and result records</a:t>
            </a:r>
          </a:p>
        </p:txBody>
      </p:sp>
      <p:sp>
        <p:nvSpPr>
          <p:cNvPr id="34" name="SpineFactoryResult"/>
          <p:cNvSpPr txBox="1">
            <a:spLocks/>
          </p:cNvSpPr>
          <p:nvPr/>
        </p:nvSpPr>
        <p:spPr>
          <a:xfrm>
            <a:off x="12687300" y="30809183"/>
            <a:ext cx="7749539" cy="3140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>
                <a:solidFill>
                  <a:srgbClr val="FFFFFF"/>
                </a:solidFill>
                <a:latin typeface="Open Sans"/>
              </a:rPr>
              <a:t>THE RESULT
The claims gate reports 6 supported, 2 unsupported and 1 underpowered claim. Failures stay visible.
THE STANDARD
A result must be reproducible enough for another person to challenge and overturn it. That happened twice—and is evidence the tooling worked.</a:t>
            </a:r>
          </a:p>
        </p:txBody>
      </p:sp>
      <p:sp>
        <p:nvSpPr>
          <p:cNvPr id="35" name="SpineInterface_Frame"/>
          <p:cNvSpPr>
            <a:spLocks/>
          </p:cNvSpPr>
          <p:nvPr/>
        </p:nvSpPr>
        <p:spPr>
          <a:xfrm>
            <a:off x="21739859" y="10997184"/>
            <a:ext cx="9121139" cy="11314175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pineInterface_Label"/>
          <p:cNvSpPr txBox="1">
            <a:spLocks/>
          </p:cNvSpPr>
          <p:nvPr/>
        </p:nvSpPr>
        <p:spPr>
          <a:xfrm>
            <a:off x="22041613" y="11143486"/>
            <a:ext cx="8517636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NINE-FUNCTION SURFACE</a:t>
            </a:r>
          </a:p>
        </p:txBody>
      </p:sp>
      <p:sp>
        <p:nvSpPr>
          <p:cNvPr id="37" name="SpineRecords_Box"/>
          <p:cNvSpPr>
            <a:spLocks/>
          </p:cNvSpPr>
          <p:nvPr/>
        </p:nvSpPr>
        <p:spPr>
          <a:xfrm>
            <a:off x="21739859" y="22799041"/>
            <a:ext cx="9121139" cy="7583424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SpineRecords_Accent"/>
          <p:cNvSpPr>
            <a:spLocks/>
          </p:cNvSpPr>
          <p:nvPr/>
        </p:nvSpPr>
        <p:spPr>
          <a:xfrm>
            <a:off x="21739859" y="22799041"/>
            <a:ext cx="150876" cy="7583424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pineRecords_Heading"/>
          <p:cNvSpPr txBox="1">
            <a:spLocks/>
          </p:cNvSpPr>
          <p:nvPr/>
        </p:nvSpPr>
        <p:spPr>
          <a:xfrm>
            <a:off x="22151339" y="23128224"/>
            <a:ext cx="8325612" cy="50090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880" b="1">
                <a:solidFill>
                  <a:srgbClr val="32006E"/>
                </a:solidFill>
                <a:latin typeface="Encode Sans Normal"/>
              </a:rPr>
              <a:t>Records survive</a:t>
            </a:r>
          </a:p>
        </p:txBody>
      </p:sp>
      <p:sp>
        <p:nvSpPr>
          <p:cNvPr id="40" name="SpineRecords_Body"/>
          <p:cNvSpPr txBox="1">
            <a:spLocks/>
          </p:cNvSpPr>
          <p:nvPr/>
        </p:nvSpPr>
        <p:spPr>
          <a:xfrm>
            <a:off x="22151339" y="24140159"/>
            <a:ext cx="8325612" cy="17647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12">
                <a:solidFill>
                  <a:srgbClr val="1F1F24"/>
                </a:solidFill>
                <a:latin typeface="Open Sans"/>
              </a:rPr>
              <a:t>Every setting that can move a number belongs in the record. Corpora and vocabularies carry fingerprints; run reuse refuses mismatched settings. The current evidence base contains 197 pretraining runs, 278 fine-tuning records and 892 individual fine-tuning runs.</a:t>
            </a:r>
          </a:p>
        </p:txBody>
      </p:sp>
      <p:sp>
        <p:nvSpPr>
          <p:cNvPr id="41" name="SpineDashboard_Frame"/>
          <p:cNvSpPr>
            <a:spLocks/>
          </p:cNvSpPr>
          <p:nvPr/>
        </p:nvSpPr>
        <p:spPr>
          <a:xfrm>
            <a:off x="21739859" y="30845761"/>
            <a:ext cx="9121139" cy="11387327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SpineDashboard_Label"/>
          <p:cNvSpPr txBox="1">
            <a:spLocks/>
          </p:cNvSpPr>
          <p:nvPr/>
        </p:nvSpPr>
        <p:spPr>
          <a:xfrm>
            <a:off x="22041613" y="30992065"/>
            <a:ext cx="8517636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ONE OPERATIONAL VIEW</a:t>
            </a:r>
          </a:p>
        </p:txBody>
      </p:sp>
      <p:cxnSp>
        <p:nvCxnSpPr>
          <p:cNvPr id="43" name="Connector 42"/>
          <p:cNvCxnSpPr>
            <a:cxnSpLocks/>
          </p:cNvCxnSpPr>
          <p:nvPr/>
        </p:nvCxnSpPr>
        <p:spPr>
          <a:xfrm>
            <a:off x="2057400" y="42867073"/>
            <a:ext cx="28803600" cy="1270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ooter_Sources"/>
          <p:cNvSpPr txBox="1">
            <a:spLocks/>
          </p:cNvSpPr>
          <p:nvPr/>
        </p:nvSpPr>
        <p:spPr>
          <a:xfrm>
            <a:off x="2057400" y="42988992"/>
            <a:ext cx="25648921" cy="251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152">
                <a:solidFill>
                  <a:srgbClr val="5E5A66"/>
                </a:solidFill>
                <a:latin typeface="Open Sans"/>
              </a:rPr>
              <a:t>Source: reports/09-the-poster.md and reports/12-poster-build-sheet-v2.md · Counts and figures regenerate from committed runs/ records · 12 Aug 2026</a:t>
            </a:r>
          </a:p>
        </p:txBody>
      </p:sp>
      <p:sp>
        <p:nvSpPr>
          <p:cNvPr id="45" name="Footer_Tag"/>
          <p:cNvSpPr txBox="1">
            <a:spLocks/>
          </p:cNvSpPr>
          <p:nvPr/>
        </p:nvSpPr>
        <p:spPr>
          <a:xfrm>
            <a:off x="27432000" y="42988991"/>
            <a:ext cx="3429000" cy="264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48" b="1">
                <a:solidFill>
                  <a:srgbClr val="32006E"/>
                </a:solidFill>
                <a:latin typeface="Uni Sans Book"/>
              </a:rPr>
              <a:t>A2-NLP · 2026</a:t>
            </a:r>
          </a:p>
        </p:txBody>
      </p:sp>
      <p:pic>
        <p:nvPicPr>
          <p:cNvPr id="47" name="Embedded_01_SpineSpeed" descr="reports\figures\14-where-the-speedup-came-from.svg">
            <a:extLst>
              <a:ext uri="{FF2B5EF4-FFF2-40B4-BE49-F238E27FC236}">
                <a16:creationId xmlns:a16="http://schemas.microsoft.com/office/drawing/2014/main" id="{0A4EF3AF-8FB1-1152-A704-8AB4FB1F0C3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8440" y="13592077"/>
            <a:ext cx="7924800" cy="5624517"/>
          </a:xfrm>
          <a:prstGeom prst="rect">
            <a:avLst/>
          </a:prstGeom>
        </p:spPr>
      </p:pic>
      <p:pic>
        <p:nvPicPr>
          <p:cNvPr id="49" name="Embedded_02_SpinePipelineFigure" descr="reports\figures\15-what-a-run-is-made-of.svg">
            <a:extLst>
              <a:ext uri="{FF2B5EF4-FFF2-40B4-BE49-F238E27FC236}">
                <a16:creationId xmlns:a16="http://schemas.microsoft.com/office/drawing/2014/main" id="{3CF49C00-1026-B152-A704-C801D75000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8440" y="34065335"/>
            <a:ext cx="7924800" cy="4460504"/>
          </a:xfrm>
          <a:prstGeom prst="rect">
            <a:avLst/>
          </a:prstGeom>
        </p:spPr>
      </p:pic>
      <p:pic>
        <p:nvPicPr>
          <p:cNvPr id="51" name="Embedded_03_SpineInterface" descr="reports\figures\19-the-interface.svg">
            <a:extLst>
              <a:ext uri="{FF2B5EF4-FFF2-40B4-BE49-F238E27FC236}">
                <a16:creationId xmlns:a16="http://schemas.microsoft.com/office/drawing/2014/main" id="{8382A917-2C61-B2B7-52D0-0C2D9F16B77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29471" y="14666545"/>
            <a:ext cx="7741919" cy="4487516"/>
          </a:xfrm>
          <a:prstGeom prst="rect">
            <a:avLst/>
          </a:prstGeom>
        </p:spPr>
      </p:pic>
      <p:pic>
        <p:nvPicPr>
          <p:cNvPr id="53" name="Embedded_04_SpineDashboard" descr="reports\figures\07-dashboard.png">
            <a:extLst>
              <a:ext uri="{FF2B5EF4-FFF2-40B4-BE49-F238E27FC236}">
                <a16:creationId xmlns:a16="http://schemas.microsoft.com/office/drawing/2014/main" id="{7973502D-9894-0C96-FE80-68E062B6486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429470" y="33956752"/>
            <a:ext cx="7741920" cy="567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7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8413</TotalTime>
  <Words>266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Encode Sans Normal</vt:lpstr>
      <vt:lpstr>Encode Sans Normal Black</vt:lpstr>
      <vt:lpstr>Arial</vt:lpstr>
      <vt:lpstr>Uni Sans Book</vt:lpstr>
      <vt:lpstr>Open Sans</vt:lpstr>
      <vt:lpstr>Uni Sans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Leon Wan</cp:lastModifiedBy>
  <cp:revision>30</cp:revision>
  <dcterms:created xsi:type="dcterms:W3CDTF">2018-02-07T04:27:03Z</dcterms:created>
  <dcterms:modified xsi:type="dcterms:W3CDTF">2026-08-13T04:54:21Z</dcterms:modified>
</cp:coreProperties>
</file>