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3"/>
  </p:handoutMasterIdLst>
  <p:sldIdLst>
    <p:sldId id="256" r:id="rId2"/>
  </p:sldIdLst>
  <p:sldSz cx="43891200" cy="32918400"/>
  <p:notesSz cx="9144000" cy="6858000"/>
  <p:embeddedFontLst>
    <p:embeddedFont>
      <p:font typeface="Encode Sans Normal" panose="02000000000000000000" pitchFamily="2" charset="0"/>
      <p:bold r:id="rId4"/>
    </p:embeddedFont>
    <p:embeddedFont>
      <p:font typeface="Encode Sans Normal Black" panose="02000000000000000000" pitchFamily="2" charset="0"/>
      <p:bold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Uni Sans Book" panose="00000500000000000000" pitchFamily="50" charset="0"/>
      <p:regular r:id="rId10"/>
    </p:embeddedFont>
    <p:embeddedFont>
      <p:font typeface="Uni Sans Regular" panose="00000500000000000000" pitchFamily="50" charset="0"/>
      <p:regular r:id="rId11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4" orient="horz" pos="29808" userDrawn="1">
          <p15:clr>
            <a:srgbClr val="A4A3A4"/>
          </p15:clr>
        </p15:guide>
        <p15:guide id="5" pos="92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33" d="100"/>
          <a:sy n="33" d="100"/>
        </p:scale>
        <p:origin x="1314" y="120"/>
      </p:cViewPr>
      <p:guideLst>
        <p:guide orient="horz" pos="1296"/>
        <p:guide orient="horz" pos="29808"/>
        <p:guide pos="92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3891200" cy="7242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184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9867" y="8244408"/>
            <a:ext cx="1270" cy="22930923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9CE18A-5FD0-8112-17A2-4EA5735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945600" y="8244408"/>
            <a:ext cx="1270" cy="22930923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E42AEF-A90F-B6FA-C7F4-149DD55D3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473295" y="8244408"/>
            <a:ext cx="1270" cy="22930923"/>
          </a:xfrm>
          <a:prstGeom prst="line">
            <a:avLst/>
          </a:prstGeom>
          <a:ln w="8467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4384" y="3204013"/>
            <a:ext cx="5332816" cy="403895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1519384" y="1706918"/>
            <a:ext cx="33990998" cy="2546757"/>
          </a:xfrm>
          <a:prstGeom prst="rect">
            <a:avLst/>
          </a:prstGeom>
        </p:spPr>
        <p:txBody>
          <a:bodyPr lIns="0" tIns="60960" rIns="0" bIns="60960" anchor="b"/>
          <a:lstStyle>
            <a:lvl1pPr algn="l">
              <a:defRPr sz="17254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385" y="3834207"/>
            <a:ext cx="5169408" cy="1426464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523998" y="5986986"/>
            <a:ext cx="33986384" cy="984876"/>
          </a:xfrm>
        </p:spPr>
        <p:txBody>
          <a:bodyPr lIns="121920" tIns="60960" rIns="121920" bIns="60960"/>
          <a:lstStyle>
            <a:lvl1pPr marL="0" indent="0">
              <a:buNone/>
              <a:defRPr sz="45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4000" y="8244408"/>
            <a:ext cx="9296400" cy="2754627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95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562611" y="11294928"/>
            <a:ext cx="9296395" cy="9490089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45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519385" y="22227260"/>
            <a:ext cx="9296395" cy="1894742"/>
          </a:xfrm>
          <a:solidFill>
            <a:schemeClr val="tx2"/>
          </a:solidFill>
        </p:spPr>
        <p:txBody>
          <a:bodyPr lIns="731520" tIns="60960" rIns="731520" bIns="60960" anchor="b" anchorCtr="0">
            <a:normAutofit/>
          </a:bodyPr>
          <a:lstStyle>
            <a:lvl1pPr marL="0" indent="0">
              <a:buNone/>
              <a:defRPr sz="420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38931" y="24122001"/>
            <a:ext cx="9305568" cy="7081900"/>
          </a:xfrm>
          <a:solidFill>
            <a:schemeClr val="tx2"/>
          </a:solidFill>
        </p:spPr>
        <p:txBody>
          <a:bodyPr lIns="731520" tIns="243840" rIns="731520" bIns="60960">
            <a:normAutofit/>
          </a:bodyPr>
          <a:lstStyle>
            <a:lvl1pPr>
              <a:defRPr sz="27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069652" y="8083740"/>
            <a:ext cx="9292620" cy="864395"/>
          </a:xfrm>
        </p:spPr>
        <p:txBody>
          <a:bodyPr lIns="121920" tIns="60960" rIns="121920" bIns="60960"/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10098614" y="11851194"/>
            <a:ext cx="5043433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2043380" y="14667920"/>
            <a:ext cx="9292620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12515699" y="8994059"/>
            <a:ext cx="8820300" cy="564079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76544" y="16225455"/>
            <a:ext cx="9285727" cy="86677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003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076546" y="17785469"/>
            <a:ext cx="9259454" cy="1157330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2076549" y="18959733"/>
            <a:ext cx="9259450" cy="4975902"/>
          </a:xfrm>
        </p:spPr>
        <p:txBody>
          <a:bodyPr lIns="121920" tIns="60960" rIns="121920" bIns="60960"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081787" y="24666485"/>
            <a:ext cx="9254213" cy="5386246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4800"/>
            </a:lvl1pPr>
          </a:lstStyle>
          <a:p>
            <a:pPr marL="548721" marR="0" lvl="0" indent="-548721" algn="l" defTabSz="2194889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2081793" y="30218125"/>
            <a:ext cx="9280479" cy="67389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92145" y="7969023"/>
            <a:ext cx="9259454" cy="86677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003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599549" y="9478437"/>
            <a:ext cx="9252049" cy="1052952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2599557" y="10816905"/>
            <a:ext cx="9252041" cy="4833978"/>
          </a:xfrm>
        </p:spPr>
        <p:txBody>
          <a:bodyPr lIns="121920" tIns="60960" rIns="121920" bIns="60960"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2582969" y="16572596"/>
            <a:ext cx="9229534" cy="864395"/>
          </a:xfrm>
        </p:spPr>
        <p:txBody>
          <a:bodyPr lIns="121920" tIns="60960" rIns="121920" bIns="60960"/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2582973" y="22429828"/>
            <a:ext cx="4499781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22582970" y="17448892"/>
            <a:ext cx="4499783" cy="49678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7077271" y="22429828"/>
            <a:ext cx="4774329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27077271" y="17448892"/>
            <a:ext cx="4735235" cy="49678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566155" y="23755400"/>
            <a:ext cx="9285442" cy="86677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003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2599555" y="25284342"/>
            <a:ext cx="9252044" cy="1308116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2599563" y="26781749"/>
            <a:ext cx="9252039" cy="4393579"/>
          </a:xfrm>
        </p:spPr>
        <p:txBody>
          <a:bodyPr lIns="121920" tIns="60960" rIns="121920" bIns="60960"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070800" y="8018173"/>
            <a:ext cx="9296400" cy="864395"/>
          </a:xfrm>
        </p:spPr>
        <p:txBody>
          <a:bodyPr lIns="121920" tIns="60960" rIns="121920" bIns="60960"/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31048588" y="11808061"/>
            <a:ext cx="5229079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112698" y="14716585"/>
            <a:ext cx="9215889" cy="531018"/>
          </a:xfrm>
        </p:spPr>
        <p:txBody>
          <a:bodyPr lIns="121920" tIns="60960" rIns="121920" bIns="60960">
            <a:noAutofit/>
          </a:bodyPr>
          <a:lstStyle>
            <a:lvl1pPr marL="0" indent="0" algn="ctr">
              <a:buNone/>
              <a:defRPr sz="27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33542818" y="8899500"/>
            <a:ext cx="8824385" cy="581708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07747" y="16218381"/>
            <a:ext cx="9215890" cy="866775"/>
          </a:xfrm>
          <a:prstGeom prst="rect">
            <a:avLst/>
          </a:prstGeom>
        </p:spPr>
        <p:txBody>
          <a:bodyPr lIns="121920" tIns="60960" rIns="121920" bIns="60960"/>
          <a:lstStyle>
            <a:lvl1pPr marL="0" indent="0">
              <a:buNone/>
              <a:defRPr sz="6003">
                <a:solidFill>
                  <a:schemeClr val="tx2"/>
                </a:solidFill>
                <a:latin typeface="+mj-lt"/>
              </a:defRPr>
            </a:lvl1pPr>
            <a:lvl2pPr marL="1097445" indent="0">
              <a:buNone/>
              <a:defRPr sz="4002">
                <a:solidFill>
                  <a:schemeClr val="tx2"/>
                </a:solidFill>
                <a:latin typeface="+mj-lt"/>
              </a:defRPr>
            </a:lvl2pPr>
            <a:lvl3pPr marL="2194889" indent="0">
              <a:buNone/>
              <a:defRPr sz="4002">
                <a:solidFill>
                  <a:schemeClr val="tx2"/>
                </a:solidFill>
                <a:latin typeface="+mj-lt"/>
              </a:defRPr>
            </a:lvl3pPr>
            <a:lvl4pPr marL="3292335" indent="0">
              <a:buNone/>
              <a:defRPr sz="4002">
                <a:solidFill>
                  <a:schemeClr val="tx2"/>
                </a:solidFill>
                <a:latin typeface="+mj-lt"/>
              </a:defRPr>
            </a:lvl4pPr>
            <a:lvl5pPr marL="4389777" indent="0">
              <a:buNone/>
              <a:defRPr sz="4002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081747" y="17721769"/>
            <a:ext cx="9285450" cy="1237965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081754" y="19175623"/>
            <a:ext cx="9296400" cy="4967883"/>
          </a:xfrm>
        </p:spPr>
        <p:txBody>
          <a:bodyPr lIns="121920" tIns="60960" rIns="121920" bIns="60960">
            <a:noAutofit/>
          </a:bodyPr>
          <a:lstStyle>
            <a:lvl1pPr marL="285794" indent="-285794">
              <a:buFont typeface="Arial" panose="020B0604020202020204" pitchFamily="34" charset="0"/>
              <a:buChar char="•"/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070800" y="24688806"/>
            <a:ext cx="9296399" cy="53639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lIns="121920" tIns="60960" rIns="121920" bIns="60960"/>
          <a:lstStyle>
            <a:lvl1pPr>
              <a:defRPr sz="6003"/>
            </a:lvl1pPr>
          </a:lstStyle>
          <a:p>
            <a:pPr marL="548721" marR="0" lvl="0" indent="-548721" algn="l" defTabSz="2194889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070806" y="30199016"/>
            <a:ext cx="9296395" cy="673893"/>
          </a:xfrm>
        </p:spPr>
        <p:txBody>
          <a:bodyPr lIns="121920" tIns="60960" rIns="121920" bIns="60960">
            <a:noAutofit/>
          </a:bodyPr>
          <a:lstStyle>
            <a:lvl1pPr marL="0" indent="0">
              <a:buNone/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714500"/>
            <a:ext cx="40843200" cy="954405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8" y="11310504"/>
            <a:ext cx="40843200" cy="19893395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2194889" rtl="0" eaLnBrk="1" latinLnBrk="0" hangingPunct="1">
        <a:lnSpc>
          <a:spcPct val="90000"/>
        </a:lnSpc>
        <a:spcBef>
          <a:spcPct val="0"/>
        </a:spcBef>
        <a:buNone/>
        <a:defRPr sz="17254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721" indent="-548721" algn="l" defTabSz="2194889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646168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613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841056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938501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947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3391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30834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8280" indent="-548721" algn="l" defTabSz="2194889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445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889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2335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777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7224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4669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2112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9557" algn="l" defTabSz="2194889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F26B43"/>
          </p15:clr>
        </p15:guide>
        <p15:guide id="2" pos="960" userDrawn="1">
          <p15:clr>
            <a:srgbClr val="F26B43"/>
          </p15:clr>
        </p15:guide>
        <p15:guide id="3" pos="26688" userDrawn="1">
          <p15:clr>
            <a:srgbClr val="F26B43"/>
          </p15:clr>
        </p15:guide>
        <p15:guide id="4" pos="6816" userDrawn="1">
          <p15:clr>
            <a:srgbClr val="F26B43"/>
          </p15:clr>
        </p15:guide>
        <p15:guide id="5" pos="20832" userDrawn="1">
          <p15:clr>
            <a:srgbClr val="F26B43"/>
          </p15:clr>
        </p15:guide>
        <p15:guide id="6" pos="7584" userDrawn="1">
          <p15:clr>
            <a:srgbClr val="F26B43"/>
          </p15:clr>
        </p15:guide>
        <p15:guide id="7" pos="20064" userDrawn="1">
          <p15:clr>
            <a:srgbClr val="F26B43"/>
          </p15:clr>
        </p15:guide>
        <p15:guide id="8" pos="13440" userDrawn="1">
          <p15:clr>
            <a:srgbClr val="F26B43"/>
          </p15:clr>
        </p15:guide>
        <p15:guide id="9" pos="14208" userDrawn="1">
          <p15:clr>
            <a:srgbClr val="F26B43"/>
          </p15:clr>
        </p15:guide>
        <p15:guide id="10" pos="13824" userDrawn="1">
          <p15:clr>
            <a:srgbClr val="F26B43"/>
          </p15:clr>
        </p15:guide>
        <p15:guide id="11" orient="horz" pos="19656" userDrawn="1">
          <p15:clr>
            <a:srgbClr val="F26B43"/>
          </p15:clr>
        </p15:guide>
        <p15:guide id="12" orient="horz" pos="1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Eyebrow"/>
          <p:cNvSpPr txBox="1">
            <a:spLocks/>
          </p:cNvSpPr>
          <p:nvPr/>
        </p:nvSpPr>
        <p:spPr>
          <a:xfrm>
            <a:off x="1524000" y="1124711"/>
            <a:ext cx="5730240" cy="3025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E8D3A2"/>
                </a:solidFill>
                <a:latin typeface="Uni Sans Book"/>
              </a:rPr>
              <a:t>A2-NLP · LOW-RESOURCE LANGUAGE MODELING</a:t>
            </a:r>
          </a:p>
        </p:txBody>
      </p:sp>
      <p:sp>
        <p:nvSpPr>
          <p:cNvPr id="3" name="Header_Title"/>
          <p:cNvSpPr txBox="1">
            <a:spLocks/>
          </p:cNvSpPr>
          <p:nvPr/>
        </p:nvSpPr>
        <p:spPr>
          <a:xfrm>
            <a:off x="1524000" y="2054236"/>
            <a:ext cx="34625282" cy="118590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7500" b="1">
                <a:solidFill>
                  <a:srgbClr val="FFFFFF"/>
                </a:solidFill>
                <a:latin typeface="Encode Sans Normal"/>
              </a:rPr>
              <a:t>When Is It Worth Training Your Own Model?</a:t>
            </a:r>
          </a:p>
        </p:txBody>
      </p:sp>
      <p:sp>
        <p:nvSpPr>
          <p:cNvPr id="4" name="Header_Subtitle"/>
          <p:cNvSpPr txBox="1">
            <a:spLocks/>
          </p:cNvSpPr>
          <p:nvPr/>
        </p:nvSpPr>
        <p:spPr>
          <a:xfrm>
            <a:off x="1560576" y="3813047"/>
            <a:ext cx="32308800" cy="5312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000">
                <a:solidFill>
                  <a:srgbClr val="FFFFFF"/>
                </a:solidFill>
                <a:latin typeface="Uni Sans Book"/>
              </a:rPr>
              <a:t>Yoruba from scratch against multilingual transfer</a:t>
            </a:r>
          </a:p>
        </p:txBody>
      </p:sp>
      <p:sp>
        <p:nvSpPr>
          <p:cNvPr id="5" name="Takeaway_Background"/>
          <p:cNvSpPr>
            <a:spLocks/>
          </p:cNvSpPr>
          <p:nvPr/>
        </p:nvSpPr>
        <p:spPr>
          <a:xfrm>
            <a:off x="1524000" y="5829300"/>
            <a:ext cx="40843200" cy="1440180"/>
          </a:xfrm>
          <a:prstGeom prst="rect">
            <a:avLst/>
          </a:prstGeom>
          <a:solidFill>
            <a:srgbClr val="F8F2E4"/>
          </a:solidFill>
          <a:ln w="13547">
            <a:solidFill>
              <a:srgbClr val="E8D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akeaway_Label"/>
          <p:cNvSpPr txBox="1">
            <a:spLocks/>
          </p:cNvSpPr>
          <p:nvPr/>
        </p:nvSpPr>
        <p:spPr>
          <a:xfrm>
            <a:off x="1865376" y="6419793"/>
            <a:ext cx="1889760" cy="3140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575" b="1">
                <a:solidFill>
                  <a:srgbClr val="32006E"/>
                </a:solidFill>
                <a:latin typeface="Uni Sans Book"/>
              </a:rPr>
              <a:t>TAKEAWAY</a:t>
            </a:r>
          </a:p>
        </p:txBody>
      </p:sp>
      <p:sp>
        <p:nvSpPr>
          <p:cNvPr id="7" name="Takeaway_Text"/>
          <p:cNvSpPr txBox="1">
            <a:spLocks/>
          </p:cNvSpPr>
          <p:nvPr/>
        </p:nvSpPr>
        <p:spPr>
          <a:xfrm>
            <a:off x="3621024" y="6367371"/>
            <a:ext cx="38404800" cy="43261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lnSpc>
                <a:spcPct val="105000"/>
              </a:lnSpc>
            </a:pPr>
            <a:r>
              <a:rPr sz="2325" b="1">
                <a:solidFill>
                  <a:srgbClr val="1F1F24"/>
                </a:solidFill>
                <a:latin typeface="Open Sans"/>
              </a:rPr>
              <a:t>A 33.8M-parameter Yoruba model is ahead of mmBERT on topic classification; the strongest evidence points to vocabulary fit—not text scarcity—as the leverage.</a:t>
            </a:r>
          </a:p>
        </p:txBody>
      </p:sp>
      <p:sp>
        <p:nvSpPr>
          <p:cNvPr id="8" name="GridHeadline_Frame"/>
          <p:cNvSpPr>
            <a:spLocks/>
          </p:cNvSpPr>
          <p:nvPr/>
        </p:nvSpPr>
        <p:spPr>
          <a:xfrm>
            <a:off x="1524000" y="7845551"/>
            <a:ext cx="24262080" cy="1250899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GridHeadline_Label"/>
          <p:cNvSpPr txBox="1">
            <a:spLocks/>
          </p:cNvSpPr>
          <p:nvPr/>
        </p:nvSpPr>
        <p:spPr>
          <a:xfrm>
            <a:off x="1792223" y="8010144"/>
            <a:ext cx="23725632" cy="27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290" b="1">
                <a:solidFill>
                  <a:srgbClr val="32006E"/>
                </a:solidFill>
                <a:latin typeface="Uni Sans Book"/>
              </a:rPr>
              <a:t>RESULT</a:t>
            </a:r>
          </a:p>
        </p:txBody>
      </p:sp>
      <p:sp>
        <p:nvSpPr>
          <p:cNvPr id="10" name="GridClaim_Box"/>
          <p:cNvSpPr>
            <a:spLocks/>
          </p:cNvSpPr>
          <p:nvPr/>
        </p:nvSpPr>
        <p:spPr>
          <a:xfrm>
            <a:off x="26310335" y="7845552"/>
            <a:ext cx="16056863" cy="7132320"/>
          </a:xfrm>
          <a:prstGeom prst="roundRect">
            <a:avLst/>
          </a:prstGeom>
          <a:solidFill>
            <a:srgbClr val="EEEAF4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ridClaim_Accent"/>
          <p:cNvSpPr>
            <a:spLocks/>
          </p:cNvSpPr>
          <p:nvPr/>
        </p:nvSpPr>
        <p:spPr>
          <a:xfrm>
            <a:off x="26310335" y="7845552"/>
            <a:ext cx="134112" cy="713232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GridClaim_Heading"/>
          <p:cNvSpPr txBox="1">
            <a:spLocks/>
          </p:cNvSpPr>
          <p:nvPr/>
        </p:nvSpPr>
        <p:spPr>
          <a:xfrm>
            <a:off x="26676096" y="8215884"/>
            <a:ext cx="15349728" cy="5186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3000" b="1">
                <a:solidFill>
                  <a:srgbClr val="32006E"/>
                </a:solidFill>
                <a:latin typeface="Encode Sans Normal"/>
              </a:rPr>
              <a:t>A small model, a precise claim</a:t>
            </a:r>
          </a:p>
        </p:txBody>
      </p:sp>
      <p:sp>
        <p:nvSpPr>
          <p:cNvPr id="13" name="GridClaim_Body"/>
          <p:cNvSpPr txBox="1">
            <a:spLocks/>
          </p:cNvSpPr>
          <p:nvPr/>
        </p:nvSpPr>
        <p:spPr>
          <a:xfrm>
            <a:off x="26676096" y="9354312"/>
            <a:ext cx="15349728" cy="121975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400">
                <a:solidFill>
                  <a:srgbClr val="1F1F24"/>
                </a:solidFill>
                <a:latin typeface="Open Sans"/>
              </a:rPr>
              <a:t>On SIB-200, the 33.8M from-scratch model reached 0.688 macro-F1 versus 0.582 for mmBERT (five seeds; learning rates chosen on the dev split). The 0.106 margin is much larger than seed noise, but bootstrap intervals overlap by 0.004: say “ahead,” not “beats.”</a:t>
            </a:r>
          </a:p>
        </p:txBody>
      </p:sp>
      <p:sp>
        <p:nvSpPr>
          <p:cNvPr id="14" name="GridTask_Box"/>
          <p:cNvSpPr>
            <a:spLocks/>
          </p:cNvSpPr>
          <p:nvPr/>
        </p:nvSpPr>
        <p:spPr>
          <a:xfrm>
            <a:off x="26310335" y="15553944"/>
            <a:ext cx="16056863" cy="4800600"/>
          </a:xfrm>
          <a:prstGeom prst="roundRect">
            <a:avLst/>
          </a:prstGeom>
          <a:solidFill>
            <a:srgbClr val="F5F3F7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GridTask_Accent"/>
          <p:cNvSpPr>
            <a:spLocks/>
          </p:cNvSpPr>
          <p:nvPr/>
        </p:nvSpPr>
        <p:spPr>
          <a:xfrm>
            <a:off x="26310335" y="15553944"/>
            <a:ext cx="134112" cy="4800600"/>
          </a:xfrm>
          <a:prstGeom prst="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GridTask_Heading"/>
          <p:cNvSpPr txBox="1">
            <a:spLocks/>
          </p:cNvSpPr>
          <p:nvPr/>
        </p:nvSpPr>
        <p:spPr>
          <a:xfrm>
            <a:off x="26676096" y="15924276"/>
            <a:ext cx="15349728" cy="45198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550" b="1">
                <a:solidFill>
                  <a:srgbClr val="32006E"/>
                </a:solidFill>
                <a:latin typeface="Encode Sans Normal"/>
              </a:rPr>
              <a:t>Causal vocabulary swap</a:t>
            </a:r>
          </a:p>
        </p:txBody>
      </p:sp>
      <p:sp>
        <p:nvSpPr>
          <p:cNvPr id="17" name="GridTask_Body"/>
          <p:cNvSpPr txBox="1">
            <a:spLocks/>
          </p:cNvSpPr>
          <p:nvPr/>
        </p:nvSpPr>
        <p:spPr>
          <a:xfrm>
            <a:off x="26676096" y="17062703"/>
            <a:ext cx="15349728" cy="10407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2025">
                <a:solidFill>
                  <a:srgbClr val="1F1F24"/>
                </a:solidFill>
                <a:latin typeface="Open Sans"/>
              </a:rPr>
              <a:t>Holding architecture, Yoruba text and compute fixed, swapping only the vocabulary changed downstream scores. The 16k vocabulary led the 250k XLM-R vocabulary by +0.144 on SIB-200 and +0.061 on MasakhaNER; every seed won in both tasks (four seeds per arm, exact p=0.029).</a:t>
            </a:r>
          </a:p>
        </p:txBody>
      </p:sp>
      <p:sp>
        <p:nvSpPr>
          <p:cNvPr id="18" name="GridGradient_Frame"/>
          <p:cNvSpPr>
            <a:spLocks/>
          </p:cNvSpPr>
          <p:nvPr/>
        </p:nvSpPr>
        <p:spPr>
          <a:xfrm>
            <a:off x="1524000" y="20958048"/>
            <a:ext cx="13142976" cy="103555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GridGradient_Label"/>
          <p:cNvSpPr txBox="1">
            <a:spLocks/>
          </p:cNvSpPr>
          <p:nvPr/>
        </p:nvSpPr>
        <p:spPr>
          <a:xfrm>
            <a:off x="1792224" y="21122639"/>
            <a:ext cx="12606527" cy="27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290" b="1">
                <a:solidFill>
                  <a:srgbClr val="32006E"/>
                </a:solidFill>
                <a:latin typeface="Uni Sans Book"/>
              </a:rPr>
              <a:t>1 · COVERAGE</a:t>
            </a:r>
          </a:p>
        </p:txBody>
      </p:sp>
      <p:sp>
        <p:nvSpPr>
          <p:cNvPr id="20" name="GridData_Frame"/>
          <p:cNvSpPr>
            <a:spLocks/>
          </p:cNvSpPr>
          <p:nvPr/>
        </p:nvSpPr>
        <p:spPr>
          <a:xfrm>
            <a:off x="15179041" y="20958048"/>
            <a:ext cx="13142976" cy="103555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GridData_Label"/>
          <p:cNvSpPr txBox="1">
            <a:spLocks/>
          </p:cNvSpPr>
          <p:nvPr/>
        </p:nvSpPr>
        <p:spPr>
          <a:xfrm>
            <a:off x="15447263" y="21122639"/>
            <a:ext cx="12606527" cy="27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290" b="1">
                <a:solidFill>
                  <a:srgbClr val="32006E"/>
                </a:solidFill>
                <a:latin typeface="Uni Sans Book"/>
              </a:rPr>
              <a:t>2 · DATA</a:t>
            </a:r>
          </a:p>
        </p:txBody>
      </p:sp>
      <p:sp>
        <p:nvSpPr>
          <p:cNvPr id="22" name="GridLottery_Frame"/>
          <p:cNvSpPr>
            <a:spLocks/>
          </p:cNvSpPr>
          <p:nvPr/>
        </p:nvSpPr>
        <p:spPr>
          <a:xfrm>
            <a:off x="28834082" y="20958048"/>
            <a:ext cx="13533120" cy="10355580"/>
          </a:xfrm>
          <a:prstGeom prst="roundRect">
            <a:avLst/>
          </a:prstGeom>
          <a:solidFill>
            <a:srgbClr val="FFFFFF"/>
          </a:solidFill>
          <a:ln w="13547">
            <a:solidFill>
              <a:srgbClr val="D9D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GridLottery_Label"/>
          <p:cNvSpPr txBox="1">
            <a:spLocks/>
          </p:cNvSpPr>
          <p:nvPr/>
        </p:nvSpPr>
        <p:spPr>
          <a:xfrm>
            <a:off x="29102304" y="21122639"/>
            <a:ext cx="12996673" cy="270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290" b="1">
                <a:solidFill>
                  <a:srgbClr val="32006E"/>
                </a:solidFill>
                <a:latin typeface="Uni Sans Book"/>
              </a:rPr>
              <a:t>3 · VARIABILITY</a:t>
            </a:r>
          </a:p>
        </p:txBody>
      </p:sp>
      <p:cxnSp>
        <p:nvCxnSpPr>
          <p:cNvPr id="24" name="Connector 23"/>
          <p:cNvCxnSpPr>
            <a:cxnSpLocks/>
          </p:cNvCxnSpPr>
          <p:nvPr/>
        </p:nvCxnSpPr>
        <p:spPr>
          <a:xfrm>
            <a:off x="1524000" y="32040578"/>
            <a:ext cx="40843200" cy="1270"/>
          </a:xfrm>
          <a:prstGeom prst="line">
            <a:avLst/>
          </a:prstGeom>
          <a:ln w="16933">
            <a:solidFill>
              <a:srgbClr val="E8D3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ooter_Sources"/>
          <p:cNvSpPr txBox="1">
            <a:spLocks/>
          </p:cNvSpPr>
          <p:nvPr/>
        </p:nvSpPr>
        <p:spPr>
          <a:xfrm>
            <a:off x="1524000" y="32177735"/>
            <a:ext cx="37795200" cy="2451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ct val="105000"/>
              </a:lnSpc>
            </a:pPr>
            <a:r>
              <a:rPr sz="1110">
                <a:solidFill>
                  <a:srgbClr val="5E5A66"/>
                </a:solidFill>
                <a:latin typeface="Open Sans"/>
              </a:rPr>
              <a:t>Data: FineWeb-2 Yoruba, SIB-200, MasakhaNER · Models: XLM-R base, mmBERT base · Source: reports/13-the-top-board.md and committed runs/ records · 11 Aug 2026</a:t>
            </a:r>
          </a:p>
        </p:txBody>
      </p:sp>
      <p:sp>
        <p:nvSpPr>
          <p:cNvPr id="26" name="Footer_Tag"/>
          <p:cNvSpPr txBox="1">
            <a:spLocks/>
          </p:cNvSpPr>
          <p:nvPr/>
        </p:nvSpPr>
        <p:spPr>
          <a:xfrm>
            <a:off x="39258239" y="32177734"/>
            <a:ext cx="3108960" cy="2522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70" b="1">
                <a:solidFill>
                  <a:srgbClr val="32006E"/>
                </a:solidFill>
                <a:latin typeface="Uni Sans Book"/>
              </a:rPr>
              <a:t>A2-NLP · 2026</a:t>
            </a:r>
          </a:p>
        </p:txBody>
      </p:sp>
      <p:pic>
        <p:nvPicPr>
          <p:cNvPr id="28" name="Embedded_01_GridHeadline" descr="reports\figures\01-headline.svg">
            <a:extLst>
              <a:ext uri="{FF2B5EF4-FFF2-40B4-BE49-F238E27FC236}">
                <a16:creationId xmlns:a16="http://schemas.microsoft.com/office/drawing/2014/main" id="{CBD793A6-935E-B719-3946-4F5E8B623F0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2970" y="9267444"/>
            <a:ext cx="19724140" cy="10241280"/>
          </a:xfrm>
          <a:prstGeom prst="rect">
            <a:avLst/>
          </a:prstGeom>
        </p:spPr>
      </p:pic>
      <p:pic>
        <p:nvPicPr>
          <p:cNvPr id="30" name="Embedded_02_GridGradient" descr="reports\figures\02-tokenizer-gradient.svg">
            <a:extLst>
              <a:ext uri="{FF2B5EF4-FFF2-40B4-BE49-F238E27FC236}">
                <a16:creationId xmlns:a16="http://schemas.microsoft.com/office/drawing/2014/main" id="{374E8D71-6AD1-0908-87BE-BAC2AAD6DF2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3625" y="22260305"/>
            <a:ext cx="12103724" cy="8327136"/>
          </a:xfrm>
          <a:prstGeom prst="rect">
            <a:avLst/>
          </a:prstGeom>
        </p:spPr>
      </p:pic>
      <p:pic>
        <p:nvPicPr>
          <p:cNvPr id="32" name="Embedded_03_GridData" descr="reports\figures\05-data-saturation.svg">
            <a:extLst>
              <a:ext uri="{FF2B5EF4-FFF2-40B4-BE49-F238E27FC236}">
                <a16:creationId xmlns:a16="http://schemas.microsoft.com/office/drawing/2014/main" id="{50EE0267-F668-FB85-EA96-99F11AA53DB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61920" y="22285368"/>
            <a:ext cx="12777216" cy="8277012"/>
          </a:xfrm>
          <a:prstGeom prst="rect">
            <a:avLst/>
          </a:prstGeom>
        </p:spPr>
      </p:pic>
      <p:pic>
        <p:nvPicPr>
          <p:cNvPr id="34" name="Embedded_04_GridLottery" descr="reports\figures\17-tokenizer-lottery.svg">
            <a:extLst>
              <a:ext uri="{FF2B5EF4-FFF2-40B4-BE49-F238E27FC236}">
                <a16:creationId xmlns:a16="http://schemas.microsoft.com/office/drawing/2014/main" id="{E9F60E54-56E5-C1FF-6B67-D2086E4D92C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16961" y="23298248"/>
            <a:ext cx="13167359" cy="625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8551</TotalTime>
  <Words>209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</vt:lpstr>
      <vt:lpstr>Encode Sans Normal</vt:lpstr>
      <vt:lpstr>Encode Sans Normal Black</vt:lpstr>
      <vt:lpstr>Arial</vt:lpstr>
      <vt:lpstr>Uni Sans Book</vt:lpstr>
      <vt:lpstr>Open Sans</vt:lpstr>
      <vt:lpstr>Uni Sans 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Leon Wan</cp:lastModifiedBy>
  <cp:revision>33</cp:revision>
  <dcterms:created xsi:type="dcterms:W3CDTF">2018-02-07T04:27:03Z</dcterms:created>
  <dcterms:modified xsi:type="dcterms:W3CDTF">2026-08-13T04:54:26Z</dcterms:modified>
</cp:coreProperties>
</file>