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32918400" cy="43891200"/>
  <p:notesSz cx="6858000" cy="9144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4" orient="horz" pos="26496" userDrawn="1">
          <p15:clr>
            <a:srgbClr val="A4A3A4"/>
          </p15:clr>
        </p15:guide>
        <p15:guide id="5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1152"/>
        <p:guide orient="horz" pos="2649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1036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19194586"/>
            <a:ext cx="1270" cy="22867815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19163321"/>
            <a:ext cx="1270" cy="22899078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57400" y="18475568"/>
            <a:ext cx="28803600" cy="1270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92" y="1843072"/>
            <a:ext cx="8580558" cy="503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020" y="1385743"/>
            <a:ext cx="4183380" cy="250342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2057401" y="2849605"/>
            <a:ext cx="25436945" cy="390250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469213"/>
            <a:ext cx="5815584" cy="12679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07407" y="8424333"/>
            <a:ext cx="28753594" cy="1126067"/>
          </a:xfrm>
        </p:spPr>
        <p:txBody>
          <a:bodyPr lIns="121920" tIns="60960" rIns="121920" bIns="60960"/>
          <a:lstStyle>
            <a:lvl1pPr marL="0" indent="0">
              <a:buNone/>
              <a:defRPr sz="48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280238"/>
            <a:ext cx="13608842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52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7" y="13509969"/>
            <a:ext cx="13608842" cy="448613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202150" y="11279718"/>
            <a:ext cx="13658850" cy="58906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4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202150" y="17396884"/>
            <a:ext cx="13658852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9194585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0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57403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86613" y="28246918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979356" y="31098600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57057" y="34245553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9017382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001500" y="19194585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023482" y="20878800"/>
            <a:ext cx="8893418" cy="7584017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44363" y="29506983"/>
            <a:ext cx="8829646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1500" y="30866048"/>
            <a:ext cx="891540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1502" y="32390597"/>
            <a:ext cx="8987471" cy="3640089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2001500" y="36493934"/>
            <a:ext cx="8915400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08986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7272863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453033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7272863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17050" y="1919458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111730" y="28449057"/>
            <a:ext cx="8714737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9079563" y="3125625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158866" y="34403205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2642751" y="29232464"/>
            <a:ext cx="8218251" cy="517074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54621" y="35681137"/>
            <a:ext cx="8706379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125381" y="37091370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2125382" y="38615922"/>
            <a:ext cx="8714737" cy="3556460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883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9948674"/>
            <a:ext cx="1270" cy="32113727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9997440"/>
            <a:ext cx="1270" cy="32064961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538" y="1857483"/>
            <a:ext cx="13727862" cy="9583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57400" y="3214253"/>
            <a:ext cx="28180147" cy="3316182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25373"/>
            <a:ext cx="5815584" cy="1267968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0158750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723319"/>
            <a:ext cx="8693943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352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8" y="13902252"/>
            <a:ext cx="8693941" cy="6062148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057402" y="20983992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979356" y="23882016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57057" y="27028967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1800801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2" y="2818976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71048" y="296744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71051" y="31198967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001500" y="9926353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023482" y="11610568"/>
            <a:ext cx="8893418" cy="9181833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023482" y="21560366"/>
            <a:ext cx="8893418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9832" y="2309879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9835" y="24623347"/>
            <a:ext cx="8714737" cy="6085253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39043" y="31743650"/>
            <a:ext cx="8848641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008986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2558031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453033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2558031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008986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12044333" y="37457549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453033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6484203" y="37457549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117050" y="10158750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11541798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1306634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124746" y="19221450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9108778" y="2207101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145191" y="25217969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22676555" y="19989800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22117050" y="26638638"/>
            <a:ext cx="8714739" cy="72592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2117053" y="34055831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117050" y="35708168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096171" y="371420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096173" y="38666564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88" y="2336800"/>
            <a:ext cx="28394025" cy="84836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188" y="11684000"/>
            <a:ext cx="28394025" cy="27848982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8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824" userDrawn="1">
          <p15:clr>
            <a:srgbClr val="F26B43"/>
          </p15:clr>
        </p15:guide>
        <p15:guide id="2" pos="1296" userDrawn="1">
          <p15:clr>
            <a:srgbClr val="F26B43"/>
          </p15:clr>
        </p15:guide>
        <p15:guide id="3" pos="19440" userDrawn="1">
          <p15:clr>
            <a:srgbClr val="F26B43"/>
          </p15:clr>
        </p15:guide>
        <p15:guide id="4" pos="6804" userDrawn="1">
          <p15:clr>
            <a:srgbClr val="F26B43"/>
          </p15:clr>
        </p15:guide>
        <p15:guide id="5" pos="7560" userDrawn="1">
          <p15:clr>
            <a:srgbClr val="F26B43"/>
          </p15:clr>
        </p15:guide>
        <p15:guide id="6" pos="13176" userDrawn="1">
          <p15:clr>
            <a:srgbClr val="F26B43"/>
          </p15:clr>
        </p15:guide>
        <p15:guide id="7" pos="139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LabelCover"/>
          <p:cNvSpPr>
            <a:spLocks/>
          </p:cNvSpPr>
          <p:nvPr/>
        </p:nvSpPr>
        <p:spPr>
          <a:xfrm>
            <a:off x="1947671" y="1341120"/>
            <a:ext cx="5966458" cy="3657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2057400" y="3203678"/>
            <a:ext cx="26471879" cy="1212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680" b="1">
                <a:solidFill>
                  <a:srgbClr val="FFFFFF"/>
                </a:solidFill>
                <a:latin typeface="Encode Sans Normal"/>
              </a:rPr>
              <a:t>Building a Model Factory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2098548" y="5303519"/>
            <a:ext cx="26060400" cy="5130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>
                <a:solidFill>
                  <a:srgbClr val="FFFFFF"/>
                </a:solidFill>
                <a:latin typeface="Uni Sans Book"/>
              </a:rPr>
              <a:t>From one-off notebooks to repeatable, challengeable experiments</a:t>
            </a:r>
          </a:p>
        </p:txBody>
      </p:sp>
      <p:sp>
        <p:nvSpPr>
          <p:cNvPr id="5" name="Header_Author"/>
          <p:cNvSpPr txBox="1">
            <a:spLocks/>
          </p:cNvSpPr>
          <p:nvPr/>
        </p:nvSpPr>
        <p:spPr>
          <a:xfrm>
            <a:off x="2098548" y="6364223"/>
            <a:ext cx="24688800" cy="3084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>
                <a:solidFill>
                  <a:srgbClr val="E8D3A2"/>
                </a:solidFill>
                <a:latin typeface="Open Sans"/>
              </a:rPr>
              <a:t>A2-NLP Project Team · CSED 504 · University of Washington · Summer 2026</a:t>
            </a:r>
          </a:p>
        </p:txBody>
      </p:sp>
      <p:sp>
        <p:nvSpPr>
          <p:cNvPr id="6" name="Takeaway_Background"/>
          <p:cNvSpPr>
            <a:spLocks/>
          </p:cNvSpPr>
          <p:nvPr/>
        </p:nvSpPr>
        <p:spPr>
          <a:xfrm>
            <a:off x="2057400" y="9326880"/>
            <a:ext cx="28803600" cy="1414272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keaway_Label"/>
          <p:cNvSpPr txBox="1">
            <a:spLocks/>
          </p:cNvSpPr>
          <p:nvPr/>
        </p:nvSpPr>
        <p:spPr>
          <a:xfrm>
            <a:off x="2441448" y="9893355"/>
            <a:ext cx="2125980" cy="33009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680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8" name="Takeaway_Text"/>
          <p:cNvSpPr txBox="1">
            <a:spLocks/>
          </p:cNvSpPr>
          <p:nvPr/>
        </p:nvSpPr>
        <p:spPr>
          <a:xfrm>
            <a:off x="4416552" y="9635853"/>
            <a:ext cx="26060400" cy="85728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480" b="1">
                <a:solidFill>
                  <a:srgbClr val="1F1F24"/>
                </a:solidFill>
                <a:latin typeface="Open Sans"/>
              </a:rPr>
              <a:t>The factory made hundreds of model comparisons affordable and auditable—then gave collaborators enough control to disprove results that initially looked convincing.</a:t>
            </a:r>
          </a:p>
        </p:txBody>
      </p:sp>
      <p:sp>
        <p:nvSpPr>
          <p:cNvPr id="9" name="FactoryQuestion_Box"/>
          <p:cNvSpPr>
            <a:spLocks/>
          </p:cNvSpPr>
          <p:nvPr/>
        </p:nvSpPr>
        <p:spPr>
          <a:xfrm>
            <a:off x="2057400" y="11216640"/>
            <a:ext cx="8915400" cy="9814560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actoryQuestion_Accent"/>
          <p:cNvSpPr>
            <a:spLocks/>
          </p:cNvSpPr>
          <p:nvPr/>
        </p:nvSpPr>
        <p:spPr>
          <a:xfrm>
            <a:off x="2057400" y="11216640"/>
            <a:ext cx="150876" cy="98145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actoryQuestion_Label"/>
          <p:cNvSpPr txBox="1">
            <a:spLocks/>
          </p:cNvSpPr>
          <p:nvPr/>
        </p:nvSpPr>
        <p:spPr>
          <a:xfrm>
            <a:off x="2468880" y="11497055"/>
            <a:ext cx="8119872" cy="2858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90" b="1">
                <a:solidFill>
                  <a:srgbClr val="32006E"/>
                </a:solidFill>
                <a:latin typeface="Uni Sans Book"/>
              </a:rPr>
              <a:t>SYSTEM GOAL</a:t>
            </a:r>
          </a:p>
        </p:txBody>
      </p:sp>
      <p:sp>
        <p:nvSpPr>
          <p:cNvPr id="12" name="FactoryQuestion_Heading"/>
          <p:cNvSpPr txBox="1">
            <a:spLocks/>
          </p:cNvSpPr>
          <p:nvPr/>
        </p:nvSpPr>
        <p:spPr>
          <a:xfrm>
            <a:off x="2468880" y="11948158"/>
            <a:ext cx="8119872" cy="52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40" b="1">
                <a:solidFill>
                  <a:srgbClr val="32006E"/>
                </a:solidFill>
                <a:latin typeface="Encode Sans Normal"/>
              </a:rPr>
              <a:t>Why a factory?</a:t>
            </a:r>
          </a:p>
        </p:txBody>
      </p:sp>
      <p:sp>
        <p:nvSpPr>
          <p:cNvPr id="13" name="FactoryQuestion_Body"/>
          <p:cNvSpPr txBox="1">
            <a:spLocks/>
          </p:cNvSpPr>
          <p:nvPr/>
        </p:nvSpPr>
        <p:spPr>
          <a:xfrm>
            <a:off x="2468880" y="12960096"/>
            <a:ext cx="8119872" cy="44455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480">
                <a:solidFill>
                  <a:srgbClr val="1F1F24"/>
                </a:solidFill>
                <a:latin typeface="Open Sans"/>
              </a:rPr>
              <a:t>A scaling study varies data, compute, model size, language, seed and learning rate. Managing that grid by notebook state and filenames is not reproducibility. The factory turns each cell into a self-describing job, checkpoint and result record.
Prepare once → inspect and fingerprint → estimate on the actual GPU → pretrain one cell or queue a fleet → read curves and results through the same API. Interactive exploration stays in notebooks; expensive work moves to restartable processes.</a:t>
            </a:r>
          </a:p>
        </p:txBody>
      </p:sp>
      <p:sp>
        <p:nvSpPr>
          <p:cNvPr id="14" name="SpeedFigure_Frame"/>
          <p:cNvSpPr>
            <a:spLocks/>
          </p:cNvSpPr>
          <p:nvPr/>
        </p:nvSpPr>
        <p:spPr>
          <a:xfrm>
            <a:off x="11521439" y="11216640"/>
            <a:ext cx="19339561" cy="981456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peedFigure_Label"/>
          <p:cNvSpPr txBox="1">
            <a:spLocks/>
          </p:cNvSpPr>
          <p:nvPr/>
        </p:nvSpPr>
        <p:spPr>
          <a:xfrm>
            <a:off x="11823192" y="11362943"/>
            <a:ext cx="18736056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MEASURED SPEEDUP</a:t>
            </a:r>
          </a:p>
        </p:txBody>
      </p:sp>
      <p:sp>
        <p:nvSpPr>
          <p:cNvPr id="16" name="SpeedFigure_Caption"/>
          <p:cNvSpPr txBox="1">
            <a:spLocks/>
          </p:cNvSpPr>
          <p:nvPr/>
        </p:nvSpPr>
        <p:spPr>
          <a:xfrm>
            <a:off x="11850624" y="20519133"/>
            <a:ext cx="18681192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Efficiency and parallelism are reported separately.</a:t>
            </a:r>
          </a:p>
        </p:txBody>
      </p:sp>
      <p:sp>
        <p:nvSpPr>
          <p:cNvPr id="17" name="PipelineFigure_Frame"/>
          <p:cNvSpPr>
            <a:spLocks/>
          </p:cNvSpPr>
          <p:nvPr/>
        </p:nvSpPr>
        <p:spPr>
          <a:xfrm>
            <a:off x="2057400" y="21604224"/>
            <a:ext cx="14100048" cy="93268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ipelineFigure_Label"/>
          <p:cNvSpPr txBox="1">
            <a:spLocks/>
          </p:cNvSpPr>
          <p:nvPr/>
        </p:nvSpPr>
        <p:spPr>
          <a:xfrm>
            <a:off x="2359152" y="21750528"/>
            <a:ext cx="13496544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NOTEBOOK / QUEUE BOUNDARY</a:t>
            </a:r>
          </a:p>
        </p:txBody>
      </p:sp>
      <p:sp>
        <p:nvSpPr>
          <p:cNvPr id="19" name="PipelineFigure_Caption"/>
          <p:cNvSpPr txBox="1">
            <a:spLocks/>
          </p:cNvSpPr>
          <p:nvPr/>
        </p:nvSpPr>
        <p:spPr>
          <a:xfrm>
            <a:off x="2386584" y="30419038"/>
            <a:ext cx="13441679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Cheap stages stay interactive; training becomes a job.</a:t>
            </a:r>
          </a:p>
        </p:txBody>
      </p:sp>
      <p:sp>
        <p:nvSpPr>
          <p:cNvPr id="20" name="InterfaceFigure_Frame"/>
          <p:cNvSpPr>
            <a:spLocks/>
          </p:cNvSpPr>
          <p:nvPr/>
        </p:nvSpPr>
        <p:spPr>
          <a:xfrm>
            <a:off x="16760952" y="21604224"/>
            <a:ext cx="14100048" cy="93268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nterfaceFigure_Label"/>
          <p:cNvSpPr txBox="1">
            <a:spLocks/>
          </p:cNvSpPr>
          <p:nvPr/>
        </p:nvSpPr>
        <p:spPr>
          <a:xfrm>
            <a:off x="17062704" y="21750528"/>
            <a:ext cx="13496544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PUBLIC SURFACE</a:t>
            </a:r>
          </a:p>
        </p:txBody>
      </p:sp>
      <p:sp>
        <p:nvSpPr>
          <p:cNvPr id="22" name="InterfaceFigure_Caption"/>
          <p:cNvSpPr txBox="1">
            <a:spLocks/>
          </p:cNvSpPr>
          <p:nvPr/>
        </p:nvSpPr>
        <p:spPr>
          <a:xfrm>
            <a:off x="17090135" y="30419038"/>
            <a:ext cx="13441679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Nine stable calls hide the machinery.</a:t>
            </a:r>
          </a:p>
        </p:txBody>
      </p:sp>
      <p:sp>
        <p:nvSpPr>
          <p:cNvPr id="23" name="DashboardFigure_Frame"/>
          <p:cNvSpPr>
            <a:spLocks/>
          </p:cNvSpPr>
          <p:nvPr/>
        </p:nvSpPr>
        <p:spPr>
          <a:xfrm>
            <a:off x="2057400" y="31504127"/>
            <a:ext cx="14100048" cy="10753344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ashboardFigure_Label"/>
          <p:cNvSpPr txBox="1">
            <a:spLocks/>
          </p:cNvSpPr>
          <p:nvPr/>
        </p:nvSpPr>
        <p:spPr>
          <a:xfrm>
            <a:off x="2359152" y="31650431"/>
            <a:ext cx="13496544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OPERATIONS</a:t>
            </a:r>
          </a:p>
        </p:txBody>
      </p:sp>
      <p:sp>
        <p:nvSpPr>
          <p:cNvPr id="25" name="DashboardFigure_Caption"/>
          <p:cNvSpPr txBox="1">
            <a:spLocks/>
          </p:cNvSpPr>
          <p:nvPr/>
        </p:nvSpPr>
        <p:spPr>
          <a:xfrm>
            <a:off x="2386584" y="41745407"/>
            <a:ext cx="13441679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Queue, GPU state and comparable run records.</a:t>
            </a:r>
          </a:p>
        </p:txBody>
      </p:sp>
      <p:sp>
        <p:nvSpPr>
          <p:cNvPr id="26" name="Trust_Box"/>
          <p:cNvSpPr>
            <a:spLocks/>
          </p:cNvSpPr>
          <p:nvPr/>
        </p:nvSpPr>
        <p:spPr>
          <a:xfrm>
            <a:off x="16760952" y="31504127"/>
            <a:ext cx="14100048" cy="10753344"/>
          </a:xfrm>
          <a:prstGeom prst="roundRect">
            <a:avLst/>
          </a:prstGeom>
          <a:solidFill>
            <a:srgbClr val="EEEAF4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rust_Accent"/>
          <p:cNvSpPr>
            <a:spLocks/>
          </p:cNvSpPr>
          <p:nvPr/>
        </p:nvSpPr>
        <p:spPr>
          <a:xfrm>
            <a:off x="16760952" y="31504127"/>
            <a:ext cx="150876" cy="10753344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rust_Heading"/>
          <p:cNvSpPr txBox="1">
            <a:spLocks/>
          </p:cNvSpPr>
          <p:nvPr/>
        </p:nvSpPr>
        <p:spPr>
          <a:xfrm>
            <a:off x="17172432" y="31833313"/>
            <a:ext cx="13304521" cy="5483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32006E"/>
                </a:solidFill>
                <a:latin typeface="Encode Sans Normal"/>
              </a:rPr>
              <a:t>What made it trustworthy</a:t>
            </a:r>
          </a:p>
        </p:txBody>
      </p:sp>
      <p:sp>
        <p:nvSpPr>
          <p:cNvPr id="29" name="Trust_Body"/>
          <p:cNvSpPr txBox="1">
            <a:spLocks/>
          </p:cNvSpPr>
          <p:nvPr/>
        </p:nvSpPr>
        <p:spPr>
          <a:xfrm>
            <a:off x="17172432" y="32845247"/>
            <a:ext cx="13304521" cy="402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240">
                <a:solidFill>
                  <a:srgbClr val="1F1F24"/>
                </a:solidFill>
                <a:latin typeface="Open Sans"/>
              </a:rPr>
              <a:t>Every setting that can move a number belongs in the record. Corpora and vocabularies carry fingerprints; run reuse refuses mismatched settings. The current evidence base contains 197 pretraining runs, 278 fine-tuning records and 892 individual fine-tuning runs.
At three seeds per arm, a mean difference must be about 2.27× the pooled sample spread to clear a two-sided 0.05 t-threshold. An exact permutation test cannot return below p=0.10 with 3 vs 3. A pre-registered sample size limits what a run grid is allowed to claim.
The claims gate currently reports 6 supported, 2 unsupported and 1 underpowered claim. That is a feature: numbers regenerate from records, comparative claims are tested against their nulls, and failed claims remain visible instead of being silently rewritten.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2057400" y="42867073"/>
            <a:ext cx="288036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er_Sources"/>
          <p:cNvSpPr txBox="1">
            <a:spLocks/>
          </p:cNvSpPr>
          <p:nvPr/>
        </p:nvSpPr>
        <p:spPr>
          <a:xfrm>
            <a:off x="2057400" y="42988992"/>
            <a:ext cx="25648921" cy="251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52">
                <a:solidFill>
                  <a:srgbClr val="5E5A66"/>
                </a:solidFill>
                <a:latin typeface="Open Sans"/>
              </a:rPr>
              <a:t>Source: reports/09-the-poster.md and reports/12-poster-build-sheet-v2.md · Counts and figures regenerate from committed runs/ records · 12 Aug 2026</a:t>
            </a:r>
          </a:p>
        </p:txBody>
      </p:sp>
      <p:sp>
        <p:nvSpPr>
          <p:cNvPr id="32" name="Footer_Tag"/>
          <p:cNvSpPr txBox="1">
            <a:spLocks/>
          </p:cNvSpPr>
          <p:nvPr/>
        </p:nvSpPr>
        <p:spPr>
          <a:xfrm>
            <a:off x="27432000" y="42988991"/>
            <a:ext cx="3429000" cy="264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48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34" name="Embedded_01_SpeedFigure" descr="reports\figures\14-where-the-speedup-came-from.svg">
            <a:extLst>
              <a:ext uri="{FF2B5EF4-FFF2-40B4-BE49-F238E27FC236}">
                <a16:creationId xmlns:a16="http://schemas.microsoft.com/office/drawing/2014/main" id="{D080D158-AE57-57D1-CD46-DF833272DF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90504" y="11911584"/>
            <a:ext cx="11801434" cy="8375904"/>
          </a:xfrm>
          <a:prstGeom prst="rect">
            <a:avLst/>
          </a:prstGeom>
        </p:spPr>
      </p:pic>
      <p:pic>
        <p:nvPicPr>
          <p:cNvPr id="36" name="Embedded_02_PipelineFigure" descr="reports\figures\15-what-a-run-is-made-of.svg">
            <a:extLst>
              <a:ext uri="{FF2B5EF4-FFF2-40B4-BE49-F238E27FC236}">
                <a16:creationId xmlns:a16="http://schemas.microsoft.com/office/drawing/2014/main" id="{93BF8E0B-B44E-EE1E-E2D9-D7CA7AB5928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3616" y="22818987"/>
            <a:ext cx="12167617" cy="6848589"/>
          </a:xfrm>
          <a:prstGeom prst="rect">
            <a:avLst/>
          </a:prstGeom>
        </p:spPr>
      </p:pic>
      <p:pic>
        <p:nvPicPr>
          <p:cNvPr id="38" name="Embedded_03_InterfaceFigure" descr="reports\figures\19-the-interface.svg">
            <a:extLst>
              <a:ext uri="{FF2B5EF4-FFF2-40B4-BE49-F238E27FC236}">
                <a16:creationId xmlns:a16="http://schemas.microsoft.com/office/drawing/2014/main" id="{CAE6601A-E3D1-23D7-52B3-77FFBCA3FDF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27169" y="22716869"/>
            <a:ext cx="12167615" cy="7052820"/>
          </a:xfrm>
          <a:prstGeom prst="rect">
            <a:avLst/>
          </a:prstGeom>
        </p:spPr>
      </p:pic>
      <p:pic>
        <p:nvPicPr>
          <p:cNvPr id="40" name="Embedded_04_DashboardFigure" descr="reports\figures\07-dashboard.png">
            <a:extLst>
              <a:ext uri="{FF2B5EF4-FFF2-40B4-BE49-F238E27FC236}">
                <a16:creationId xmlns:a16="http://schemas.microsoft.com/office/drawing/2014/main" id="{965778A0-CD48-E4C3-6A43-B419D7D258D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023617" y="32394956"/>
            <a:ext cx="12167614" cy="89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366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30</cp:revision>
  <dcterms:created xsi:type="dcterms:W3CDTF">2018-02-07T04:27:03Z</dcterms:created>
  <dcterms:modified xsi:type="dcterms:W3CDTF">2026-08-13T04:54:10Z</dcterms:modified>
</cp:coreProperties>
</file>