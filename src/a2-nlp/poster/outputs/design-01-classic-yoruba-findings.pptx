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6" r:id="rId2"/>
  </p:sldIdLst>
  <p:sldSz cx="32918400" cy="43891200"/>
  <p:notesSz cx="6858000" cy="9144000"/>
  <p:embeddedFontLst>
    <p:embeddedFont>
      <p:font typeface="Encode Sans Normal" panose="02000000000000000000" pitchFamily="2" charset="0"/>
      <p:bold r:id="rId4"/>
    </p:embeddedFont>
    <p:embeddedFont>
      <p:font typeface="Encode Sans Normal Black" panose="02000000000000000000" pitchFamily="2" charset="0"/>
      <p:bold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Uni Sans Book" panose="00000500000000000000" pitchFamily="50" charset="0"/>
      <p:regular r:id="rId10"/>
    </p:embeddedFont>
    <p:embeddedFont>
      <p:font typeface="Uni Sans Regular" panose="00000500000000000000" pitchFamily="50" charset="0"/>
      <p:regular r:id="rId11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4" orient="horz" pos="26496" userDrawn="1">
          <p15:clr>
            <a:srgbClr val="A4A3A4"/>
          </p15:clr>
        </p15:guide>
        <p15:guide id="5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22" d="100"/>
          <a:sy n="22" d="100"/>
        </p:scale>
        <p:origin x="3150" y="84"/>
      </p:cViewPr>
      <p:guideLst>
        <p:guide orient="horz" pos="1152"/>
        <p:guide orient="horz" pos="26496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1036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19194586"/>
            <a:ext cx="1270" cy="22867815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12F8DD-C637-AC85-8962-75BB2A75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19163321"/>
            <a:ext cx="1270" cy="22899078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64E4A0-FA72-6823-8071-B7819EC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57400" y="18475568"/>
            <a:ext cx="28803600" cy="1270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White University of Washington wordmark">
            <a:extLst>
              <a:ext uri="{FF2B5EF4-FFF2-40B4-BE49-F238E27FC236}">
                <a16:creationId xmlns:a16="http://schemas.microsoft.com/office/drawing/2014/main" id="{06BF856D-318F-5648-4D5F-55F36A7B7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492" y="1843072"/>
            <a:ext cx="8580558" cy="503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5020" y="1385743"/>
            <a:ext cx="4183380" cy="250342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2057401" y="2849605"/>
            <a:ext cx="25436945" cy="3902507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469213"/>
            <a:ext cx="5815584" cy="126796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107407" y="8424333"/>
            <a:ext cx="28753594" cy="1126067"/>
          </a:xfrm>
        </p:spPr>
        <p:txBody>
          <a:bodyPr lIns="121920" tIns="60960" rIns="121920" bIns="60960"/>
          <a:lstStyle>
            <a:lvl1pPr marL="0" indent="0">
              <a:buNone/>
              <a:defRPr sz="48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280238"/>
            <a:ext cx="13608842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52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7" y="13509969"/>
            <a:ext cx="13608842" cy="4486137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202150" y="11279718"/>
            <a:ext cx="13658850" cy="58906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64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202150" y="17396884"/>
            <a:ext cx="13658852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9194585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0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57403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86613" y="28246918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-979356" y="31098600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057057" y="34245553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9017382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001500" y="19194585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2023482" y="20878800"/>
            <a:ext cx="8893418" cy="7584017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044363" y="29506983"/>
            <a:ext cx="8829646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1500" y="30866048"/>
            <a:ext cx="891540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1502" y="32390597"/>
            <a:ext cx="8987471" cy="3640089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2001500" y="36493934"/>
            <a:ext cx="8915400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008986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7272863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453033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7272863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117050" y="1919458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111730" y="28449057"/>
            <a:ext cx="8714737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19079563" y="3125625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158866" y="34403205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22642751" y="29232464"/>
            <a:ext cx="8218251" cy="517074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54621" y="35681137"/>
            <a:ext cx="8706379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125381" y="37091370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2125382" y="38615922"/>
            <a:ext cx="8714737" cy="3556460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CE31BD-1261-01C7-4870-B6860CC81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883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B055B-085B-76FB-DE60-7304A9BF5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9948674"/>
            <a:ext cx="1270" cy="32113727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5DD99A-053C-87B2-55AC-3DA6C3980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9997440"/>
            <a:ext cx="1270" cy="32064961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White Block W and University of Washington wordmark">
            <a:extLst>
              <a:ext uri="{FF2B5EF4-FFF2-40B4-BE49-F238E27FC236}">
                <a16:creationId xmlns:a16="http://schemas.microsoft.com/office/drawing/2014/main" id="{A228B37B-943D-418F-7FEB-547899E5FF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538" y="1857483"/>
            <a:ext cx="13727862" cy="9583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86BECF-CA9C-0683-E48A-FD679FF854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57400" y="3214253"/>
            <a:ext cx="28180147" cy="3316182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10B298-2CC4-0C2E-86C9-441EA8DB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225373"/>
            <a:ext cx="5815584" cy="1267968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1D5D6CC3-BEED-BD27-6C46-B0663A0BA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0158750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DBAB74E-5E42-7923-CC94-0F34EC9099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723319"/>
            <a:ext cx="8693943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352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 DONEC VULPUTATE CONDIMENTUM EGESTAS. 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7007CD-9973-B2FC-A5CB-B8CE9574C6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8" y="13902252"/>
            <a:ext cx="8693941" cy="6062148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molestie</a:t>
            </a:r>
            <a:r>
              <a:rPr lang="en-US" dirty="0"/>
              <a:t> id dictum sit </a:t>
            </a:r>
            <a:r>
              <a:rPr lang="en-US" dirty="0" err="1"/>
              <a:t>amet</a:t>
            </a:r>
            <a:r>
              <a:rPr lang="en-US" dirty="0"/>
              <a:t>, convallis </a:t>
            </a:r>
            <a:r>
              <a:rPr lang="en-US" dirty="0" err="1"/>
              <a:t>eget</a:t>
            </a:r>
            <a:r>
              <a:rPr lang="en-US" dirty="0"/>
              <a:t> est.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Nam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ac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,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lacinia, lorem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dolor, vitae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A98C435C-8908-B97A-76D4-D6DB29984D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057402" y="20983992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79FB6562-08B0-6BB9-C44F-C0F30B6BEA8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-979356" y="23882016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C4CE3BA-1EE8-D262-6E5E-4652CE673C2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057057" y="27028967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7" name="Chart Placeholder 56">
            <a:extLst>
              <a:ext uri="{FF2B5EF4-FFF2-40B4-BE49-F238E27FC236}">
                <a16:creationId xmlns:a16="http://schemas.microsoft.com/office/drawing/2014/main" id="{BADB8C7C-0E23-3926-3D2C-758688F5DEA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1800801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7D1E5C0D-2823-2439-0CE6-DBCBE0A4CA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2" y="2818976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A0924CD-9C6B-E18B-588B-3230C7F50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71048" y="296744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32E876E-E757-F00B-D4CF-CB152F48FEE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71051" y="31198967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3" name="Picture Placeholder 18">
            <a:extLst>
              <a:ext uri="{FF2B5EF4-FFF2-40B4-BE49-F238E27FC236}">
                <a16:creationId xmlns:a16="http://schemas.microsoft.com/office/drawing/2014/main" id="{A759DEA8-363A-5788-13D6-BAA6DEF4EDA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7595F79E-4155-D64E-A866-A2B0CF0264C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72DCC1DA-F0D7-6242-4551-C5086F5BEF5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2001500" y="9926353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A8065ACB-5149-0060-A91F-9F0DB375A9E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023482" y="11610568"/>
            <a:ext cx="8893418" cy="9181833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E45B7AE5-B4D9-43F5-4F01-11483284B8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023482" y="21560366"/>
            <a:ext cx="8893418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5AC8CF6-F7F8-FE46-244E-102985BEA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9832" y="2309879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A1E8A01-A0BF-3968-1D37-C84A031745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9835" y="24623347"/>
            <a:ext cx="8714737" cy="6085253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2AD14CD3-CC8A-ED17-DE0A-8BC17A4BB6E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2039043" y="31743650"/>
            <a:ext cx="8848641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57858A04-198D-38A3-311C-D02DAC1AF62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2008986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3" name="Chart Placeholder 56">
            <a:extLst>
              <a:ext uri="{FF2B5EF4-FFF2-40B4-BE49-F238E27FC236}">
                <a16:creationId xmlns:a16="http://schemas.microsoft.com/office/drawing/2014/main" id="{B5195A7A-BFD3-0FB4-A879-8C93AC126732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2558031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36" name="Text Placeholder 54">
            <a:extLst>
              <a:ext uri="{FF2B5EF4-FFF2-40B4-BE49-F238E27FC236}">
                <a16:creationId xmlns:a16="http://schemas.microsoft.com/office/drawing/2014/main" id="{C53D7DD7-8094-D8F1-C48C-9753AB2EBB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453033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4" name="Chart Placeholder 56">
            <a:extLst>
              <a:ext uri="{FF2B5EF4-FFF2-40B4-BE49-F238E27FC236}">
                <a16:creationId xmlns:a16="http://schemas.microsoft.com/office/drawing/2014/main" id="{DDDA2AA0-06BB-5257-F736-3072D176A92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2558031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9" name="Text Placeholder 54">
            <a:extLst>
              <a:ext uri="{FF2B5EF4-FFF2-40B4-BE49-F238E27FC236}">
                <a16:creationId xmlns:a16="http://schemas.microsoft.com/office/drawing/2014/main" id="{81F69A9E-4C8E-A391-EB1C-E7C8FE9E9F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008986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7" name="Chart Placeholder 56">
            <a:extLst>
              <a:ext uri="{FF2B5EF4-FFF2-40B4-BE49-F238E27FC236}">
                <a16:creationId xmlns:a16="http://schemas.microsoft.com/office/drawing/2014/main" id="{585DD6A7-862A-F749-6118-1098A3E67C53}"/>
              </a:ext>
            </a:extLst>
          </p:cNvPr>
          <p:cNvSpPr>
            <a:spLocks noGrp="1"/>
          </p:cNvSpPr>
          <p:nvPr>
            <p:ph type="chart" sz="quarter" idx="69"/>
          </p:nvPr>
        </p:nvSpPr>
        <p:spPr>
          <a:xfrm>
            <a:off x="12044333" y="37457549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0" name="Text Placeholder 54">
            <a:extLst>
              <a:ext uri="{FF2B5EF4-FFF2-40B4-BE49-F238E27FC236}">
                <a16:creationId xmlns:a16="http://schemas.microsoft.com/office/drawing/2014/main" id="{45459B19-7D55-12D0-82F5-1899380FF2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453033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8" name="Chart Placeholder 56">
            <a:extLst>
              <a:ext uri="{FF2B5EF4-FFF2-40B4-BE49-F238E27FC236}">
                <a16:creationId xmlns:a16="http://schemas.microsoft.com/office/drawing/2014/main" id="{52090A6A-FE82-5CC4-B526-1E4F4A059555}"/>
              </a:ext>
            </a:extLst>
          </p:cNvPr>
          <p:cNvSpPr>
            <a:spLocks noGrp="1"/>
          </p:cNvSpPr>
          <p:nvPr>
            <p:ph type="chart" sz="quarter" idx="70"/>
          </p:nvPr>
        </p:nvSpPr>
        <p:spPr>
          <a:xfrm>
            <a:off x="16484203" y="37457549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5F39BFE-7880-4CFA-5B86-0E0BCF39ECC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117050" y="10158750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35003E1-BD0C-90E4-931B-8FF586C8B8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11541798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316AAB3-86F7-D1E3-75AF-012259D3215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1306634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92A34F02-72AE-2E84-74A6-A24280D3B88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2124746" y="19221450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687A1E32-F833-4A95-287B-35E2FC0B03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19108778" y="2207101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4148A62B-5C7A-45E1-CD43-1745481A9A3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2145191" y="25217969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0" name="Chart Placeholder 56">
            <a:extLst>
              <a:ext uri="{FF2B5EF4-FFF2-40B4-BE49-F238E27FC236}">
                <a16:creationId xmlns:a16="http://schemas.microsoft.com/office/drawing/2014/main" id="{8EAAA307-E66D-6D2A-72EC-9C487AE6FD1D}"/>
              </a:ext>
            </a:extLst>
          </p:cNvPr>
          <p:cNvSpPr>
            <a:spLocks noGrp="1"/>
          </p:cNvSpPr>
          <p:nvPr>
            <p:ph type="chart" sz="quarter" idx="64"/>
          </p:nvPr>
        </p:nvSpPr>
        <p:spPr>
          <a:xfrm>
            <a:off x="22676555" y="19989800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5" name="Picture Placeholder 18">
            <a:extLst>
              <a:ext uri="{FF2B5EF4-FFF2-40B4-BE49-F238E27FC236}">
                <a16:creationId xmlns:a16="http://schemas.microsoft.com/office/drawing/2014/main" id="{64B201F0-35F2-A5C8-8AA9-511E0422913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22117050" y="26638638"/>
            <a:ext cx="8714739" cy="725929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DCA07C6B-6406-FE3E-BBEC-8805A6B1233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2117053" y="34055831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81535374-FDCA-80A8-D1B0-E84EB9E639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117050" y="35708168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D2466F7-BF85-266C-634A-BB4ADE11D1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096171" y="371420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D920A2F-995B-EE12-F87A-9D3BA66A908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096173" y="38666564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  <p:extLst>
      <p:ext uri="{BB962C8B-B14F-4D97-AF65-F5344CB8AC3E}">
        <p14:creationId xmlns:p14="http://schemas.microsoft.com/office/powerpoint/2010/main" val="423981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88" y="2336800"/>
            <a:ext cx="28394025" cy="848360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2188" y="11684000"/>
            <a:ext cx="28394025" cy="27848982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8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824" userDrawn="1">
          <p15:clr>
            <a:srgbClr val="F26B43"/>
          </p15:clr>
        </p15:guide>
        <p15:guide id="2" pos="1296" userDrawn="1">
          <p15:clr>
            <a:srgbClr val="F26B43"/>
          </p15:clr>
        </p15:guide>
        <p15:guide id="3" pos="19440" userDrawn="1">
          <p15:clr>
            <a:srgbClr val="F26B43"/>
          </p15:clr>
        </p15:guide>
        <p15:guide id="4" pos="6804" userDrawn="1">
          <p15:clr>
            <a:srgbClr val="F26B43"/>
          </p15:clr>
        </p15:guide>
        <p15:guide id="5" pos="7560" userDrawn="1">
          <p15:clr>
            <a:srgbClr val="F26B43"/>
          </p15:clr>
        </p15:guide>
        <p15:guide id="6" pos="13176" userDrawn="1">
          <p15:clr>
            <a:srgbClr val="F26B43"/>
          </p15:clr>
        </p15:guide>
        <p15:guide id="7" pos="139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LabelCover"/>
          <p:cNvSpPr>
            <a:spLocks/>
          </p:cNvSpPr>
          <p:nvPr/>
        </p:nvSpPr>
        <p:spPr>
          <a:xfrm>
            <a:off x="1947671" y="1341120"/>
            <a:ext cx="5966458" cy="36576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Title"/>
          <p:cNvSpPr txBox="1">
            <a:spLocks/>
          </p:cNvSpPr>
          <p:nvPr/>
        </p:nvSpPr>
        <p:spPr>
          <a:xfrm>
            <a:off x="2057400" y="3203678"/>
            <a:ext cx="26471879" cy="1212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7680" b="1">
                <a:solidFill>
                  <a:srgbClr val="FFFFFF"/>
                </a:solidFill>
                <a:latin typeface="Encode Sans Normal"/>
              </a:rPr>
              <a:t>When Is It Worth Training Your Own Model?</a:t>
            </a:r>
          </a:p>
        </p:txBody>
      </p:sp>
      <p:sp>
        <p:nvSpPr>
          <p:cNvPr id="4" name="Header_Subtitle"/>
          <p:cNvSpPr txBox="1">
            <a:spLocks/>
          </p:cNvSpPr>
          <p:nvPr/>
        </p:nvSpPr>
        <p:spPr>
          <a:xfrm>
            <a:off x="2098548" y="5303519"/>
            <a:ext cx="26060400" cy="51302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880">
                <a:solidFill>
                  <a:srgbClr val="FFFFFF"/>
                </a:solidFill>
                <a:latin typeface="Uni Sans Book"/>
              </a:rPr>
              <a:t>Yoruba from scratch against multilingual transfer</a:t>
            </a:r>
          </a:p>
        </p:txBody>
      </p:sp>
      <p:sp>
        <p:nvSpPr>
          <p:cNvPr id="5" name="Header_Author"/>
          <p:cNvSpPr txBox="1">
            <a:spLocks/>
          </p:cNvSpPr>
          <p:nvPr/>
        </p:nvSpPr>
        <p:spPr>
          <a:xfrm>
            <a:off x="2098548" y="6364223"/>
            <a:ext cx="24688800" cy="3084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>
                <a:solidFill>
                  <a:srgbClr val="E8D3A2"/>
                </a:solidFill>
                <a:latin typeface="Open Sans"/>
              </a:rPr>
              <a:t>A2-NLP Project Team · CSED 504 · University of Washington · Summer 2026</a:t>
            </a:r>
          </a:p>
        </p:txBody>
      </p:sp>
      <p:sp>
        <p:nvSpPr>
          <p:cNvPr id="6" name="Takeaway_Background"/>
          <p:cNvSpPr>
            <a:spLocks/>
          </p:cNvSpPr>
          <p:nvPr/>
        </p:nvSpPr>
        <p:spPr>
          <a:xfrm>
            <a:off x="2057400" y="9326880"/>
            <a:ext cx="28803600" cy="1414272"/>
          </a:xfrm>
          <a:prstGeom prst="rect">
            <a:avLst/>
          </a:prstGeom>
          <a:solidFill>
            <a:srgbClr val="F8F2E4"/>
          </a:solidFill>
          <a:ln w="13547">
            <a:solidFill>
              <a:srgbClr val="E8D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akeaway_Label"/>
          <p:cNvSpPr txBox="1">
            <a:spLocks/>
          </p:cNvSpPr>
          <p:nvPr/>
        </p:nvSpPr>
        <p:spPr>
          <a:xfrm>
            <a:off x="2441448" y="9893355"/>
            <a:ext cx="2125980" cy="33009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680" b="1">
                <a:solidFill>
                  <a:srgbClr val="32006E"/>
                </a:solidFill>
                <a:latin typeface="Uni Sans Book"/>
              </a:rPr>
              <a:t>TAKEAWAY</a:t>
            </a:r>
          </a:p>
        </p:txBody>
      </p:sp>
      <p:sp>
        <p:nvSpPr>
          <p:cNvPr id="8" name="Takeaway_Text"/>
          <p:cNvSpPr txBox="1">
            <a:spLocks/>
          </p:cNvSpPr>
          <p:nvPr/>
        </p:nvSpPr>
        <p:spPr>
          <a:xfrm>
            <a:off x="4416552" y="9836229"/>
            <a:ext cx="26060400" cy="45653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480" b="1">
                <a:solidFill>
                  <a:srgbClr val="1F1F24"/>
                </a:solidFill>
                <a:latin typeface="Open Sans"/>
              </a:rPr>
              <a:t>A 33.8M-parameter Yoruba model is ahead of mmBERT on topic classification; the strongest evidence points to vocabulary fit—not text scarcity—as the leverage.</a:t>
            </a:r>
          </a:p>
        </p:txBody>
      </p:sp>
      <p:sp>
        <p:nvSpPr>
          <p:cNvPr id="9" name="Choice_Box"/>
          <p:cNvSpPr>
            <a:spLocks/>
          </p:cNvSpPr>
          <p:nvPr/>
        </p:nvSpPr>
        <p:spPr>
          <a:xfrm>
            <a:off x="2057400" y="11216640"/>
            <a:ext cx="8915400" cy="9814560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oice_Accent"/>
          <p:cNvSpPr>
            <a:spLocks/>
          </p:cNvSpPr>
          <p:nvPr/>
        </p:nvSpPr>
        <p:spPr>
          <a:xfrm>
            <a:off x="2057400" y="11216640"/>
            <a:ext cx="150876" cy="981456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hoice_Label"/>
          <p:cNvSpPr txBox="1">
            <a:spLocks/>
          </p:cNvSpPr>
          <p:nvPr/>
        </p:nvSpPr>
        <p:spPr>
          <a:xfrm>
            <a:off x="2468880" y="11497055"/>
            <a:ext cx="8119872" cy="2858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90" b="1">
                <a:solidFill>
                  <a:srgbClr val="32006E"/>
                </a:solidFill>
                <a:latin typeface="Uni Sans Book"/>
              </a:rPr>
              <a:t>RESEARCH QUESTION</a:t>
            </a:r>
          </a:p>
        </p:txBody>
      </p:sp>
      <p:sp>
        <p:nvSpPr>
          <p:cNvPr id="12" name="Choice_Heading"/>
          <p:cNvSpPr txBox="1">
            <a:spLocks/>
          </p:cNvSpPr>
          <p:nvPr/>
        </p:nvSpPr>
        <p:spPr>
          <a:xfrm>
            <a:off x="2468880" y="11948158"/>
            <a:ext cx="8119872" cy="5246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040" b="1">
                <a:solidFill>
                  <a:srgbClr val="32006E"/>
                </a:solidFill>
                <a:latin typeface="Encode Sans Normal"/>
              </a:rPr>
              <a:t>The choice</a:t>
            </a:r>
          </a:p>
        </p:txBody>
      </p:sp>
      <p:sp>
        <p:nvSpPr>
          <p:cNvPr id="13" name="Choice_Body"/>
          <p:cNvSpPr txBox="1">
            <a:spLocks/>
          </p:cNvSpPr>
          <p:nvPr/>
        </p:nvSpPr>
        <p:spPr>
          <a:xfrm>
            <a:off x="2468880" y="12960096"/>
            <a:ext cx="8119872" cy="44455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480">
                <a:solidFill>
                  <a:srgbClr val="1F1F24"/>
                </a:solidFill>
                <a:latin typeface="Open Sans"/>
              </a:rPr>
              <a:t>Low-resource NLP usually defaults to transfer: start from a multilingual encoder and fine-tune it. We tested the alternative—pretrain a small encoder only on Yoruba, with a vocabulary fitted to Yoruba—against XLM-R and mmBERT.
On SIB-200, the 33.8M from-scratch model reached 0.688 macro-F1 versus 0.582 for mmBERT (five seeds; learning rates chosen on the dev split). The 0.106 margin is much larger than seed noise, but bootstrap intervals overlap by 0.004: say “ahead,” not “beats.”</a:t>
            </a:r>
          </a:p>
        </p:txBody>
      </p:sp>
      <p:sp>
        <p:nvSpPr>
          <p:cNvPr id="14" name="HeadlineFigure_Frame"/>
          <p:cNvSpPr>
            <a:spLocks/>
          </p:cNvSpPr>
          <p:nvPr/>
        </p:nvSpPr>
        <p:spPr>
          <a:xfrm>
            <a:off x="11521439" y="11216640"/>
            <a:ext cx="19339561" cy="981456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HeadlineFigure_Label"/>
          <p:cNvSpPr txBox="1">
            <a:spLocks/>
          </p:cNvSpPr>
          <p:nvPr/>
        </p:nvSpPr>
        <p:spPr>
          <a:xfrm>
            <a:off x="11823192" y="11362943"/>
            <a:ext cx="18736056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HEADLINE RESULT</a:t>
            </a:r>
          </a:p>
        </p:txBody>
      </p:sp>
      <p:sp>
        <p:nvSpPr>
          <p:cNvPr id="16" name="HeadlineFigure_Caption"/>
          <p:cNvSpPr txBox="1">
            <a:spLocks/>
          </p:cNvSpPr>
          <p:nvPr/>
        </p:nvSpPr>
        <p:spPr>
          <a:xfrm>
            <a:off x="11850624" y="20519133"/>
            <a:ext cx="18681192" cy="2883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90" i="1">
                <a:solidFill>
                  <a:srgbClr val="5E5A66"/>
                </a:solidFill>
                <a:latin typeface="Open Sans"/>
              </a:rPr>
              <a:t>SIB-200 uses dev-selected rates; NER does not.</a:t>
            </a:r>
          </a:p>
        </p:txBody>
      </p:sp>
      <p:sp>
        <p:nvSpPr>
          <p:cNvPr id="17" name="GradientFigure_Frame"/>
          <p:cNvSpPr>
            <a:spLocks/>
          </p:cNvSpPr>
          <p:nvPr/>
        </p:nvSpPr>
        <p:spPr>
          <a:xfrm>
            <a:off x="2057400" y="21604224"/>
            <a:ext cx="14100048" cy="93268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GradientFigure_Label"/>
          <p:cNvSpPr txBox="1">
            <a:spLocks/>
          </p:cNvSpPr>
          <p:nvPr/>
        </p:nvSpPr>
        <p:spPr>
          <a:xfrm>
            <a:off x="2359152" y="21750528"/>
            <a:ext cx="13496544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COVERAGE GRADIENT</a:t>
            </a:r>
          </a:p>
        </p:txBody>
      </p:sp>
      <p:sp>
        <p:nvSpPr>
          <p:cNvPr id="19" name="GradientFigure_Caption"/>
          <p:cNvSpPr txBox="1">
            <a:spLocks/>
          </p:cNvSpPr>
          <p:nvPr/>
        </p:nvSpPr>
        <p:spPr>
          <a:xfrm>
            <a:off x="2386584" y="30419038"/>
            <a:ext cx="13441679" cy="2883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90" i="1">
                <a:solidFill>
                  <a:srgbClr val="5E5A66"/>
                </a:solidFill>
                <a:latin typeface="Open Sans"/>
              </a:rPr>
              <a:t>Tokenizer fertility across 17 languages.</a:t>
            </a:r>
          </a:p>
        </p:txBody>
      </p:sp>
      <p:sp>
        <p:nvSpPr>
          <p:cNvPr id="20" name="DataFigure_Frame"/>
          <p:cNvSpPr>
            <a:spLocks/>
          </p:cNvSpPr>
          <p:nvPr/>
        </p:nvSpPr>
        <p:spPr>
          <a:xfrm>
            <a:off x="16760952" y="21604224"/>
            <a:ext cx="14100048" cy="93268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ataFigure_Label"/>
          <p:cNvSpPr txBox="1">
            <a:spLocks/>
          </p:cNvSpPr>
          <p:nvPr/>
        </p:nvSpPr>
        <p:spPr>
          <a:xfrm>
            <a:off x="17062704" y="21750528"/>
            <a:ext cx="13496544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DATA CONTROL</a:t>
            </a:r>
          </a:p>
        </p:txBody>
      </p:sp>
      <p:sp>
        <p:nvSpPr>
          <p:cNvPr id="22" name="DataFigure_Caption"/>
          <p:cNvSpPr txBox="1">
            <a:spLocks/>
          </p:cNvSpPr>
          <p:nvPr/>
        </p:nvSpPr>
        <p:spPr>
          <a:xfrm>
            <a:off x="17090135" y="30419038"/>
            <a:ext cx="13441679" cy="2883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90" i="1">
                <a:solidFill>
                  <a:srgbClr val="5E5A66"/>
                </a:solidFill>
                <a:latin typeface="Open Sans"/>
              </a:rPr>
              <a:t>More text stops moving loss at these budgets.</a:t>
            </a:r>
          </a:p>
        </p:txBody>
      </p:sp>
      <p:sp>
        <p:nvSpPr>
          <p:cNvPr id="23" name="LotteryFigure_Frame"/>
          <p:cNvSpPr>
            <a:spLocks/>
          </p:cNvSpPr>
          <p:nvPr/>
        </p:nvSpPr>
        <p:spPr>
          <a:xfrm>
            <a:off x="2057400" y="31504127"/>
            <a:ext cx="14100048" cy="10753344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LotteryFigure_Label"/>
          <p:cNvSpPr txBox="1">
            <a:spLocks/>
          </p:cNvSpPr>
          <p:nvPr/>
        </p:nvSpPr>
        <p:spPr>
          <a:xfrm>
            <a:off x="2359152" y="31650431"/>
            <a:ext cx="13496544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RUN-TO-RUN VARIABILITY</a:t>
            </a:r>
          </a:p>
        </p:txBody>
      </p:sp>
      <p:sp>
        <p:nvSpPr>
          <p:cNvPr id="25" name="LotteryFigure_Caption"/>
          <p:cNvSpPr txBox="1">
            <a:spLocks/>
          </p:cNvSpPr>
          <p:nvPr/>
        </p:nvSpPr>
        <p:spPr>
          <a:xfrm>
            <a:off x="2386584" y="41745407"/>
            <a:ext cx="13441679" cy="2883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90" i="1">
                <a:solidFill>
                  <a:srgbClr val="5E5A66"/>
                </a:solidFill>
                <a:latin typeface="Open Sans"/>
              </a:rPr>
              <a:t>Six registered seeds separate variance, not mean.</a:t>
            </a:r>
          </a:p>
        </p:txBody>
      </p:sp>
      <p:sp>
        <p:nvSpPr>
          <p:cNvPr id="26" name="Conclusions_Box"/>
          <p:cNvSpPr>
            <a:spLocks/>
          </p:cNvSpPr>
          <p:nvPr/>
        </p:nvSpPr>
        <p:spPr>
          <a:xfrm>
            <a:off x="16760952" y="31504127"/>
            <a:ext cx="14100048" cy="10753344"/>
          </a:xfrm>
          <a:prstGeom prst="roundRect">
            <a:avLst/>
          </a:prstGeom>
          <a:solidFill>
            <a:srgbClr val="EEEAF4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onclusions_Accent"/>
          <p:cNvSpPr>
            <a:spLocks/>
          </p:cNvSpPr>
          <p:nvPr/>
        </p:nvSpPr>
        <p:spPr>
          <a:xfrm>
            <a:off x="16760952" y="31504127"/>
            <a:ext cx="150876" cy="10753344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onclusions_Heading"/>
          <p:cNvSpPr txBox="1">
            <a:spLocks/>
          </p:cNvSpPr>
          <p:nvPr/>
        </p:nvSpPr>
        <p:spPr>
          <a:xfrm>
            <a:off x="17172432" y="31833313"/>
            <a:ext cx="13304521" cy="5483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32006E"/>
                </a:solidFill>
                <a:latin typeface="Encode Sans Normal"/>
              </a:rPr>
              <a:t>What survives</a:t>
            </a:r>
          </a:p>
        </p:txBody>
      </p:sp>
      <p:sp>
        <p:nvSpPr>
          <p:cNvPr id="29" name="Conclusions_Body"/>
          <p:cNvSpPr txBox="1">
            <a:spLocks/>
          </p:cNvSpPr>
          <p:nvPr/>
        </p:nvSpPr>
        <p:spPr>
          <a:xfrm>
            <a:off x="17172432" y="32845247"/>
            <a:ext cx="13304521" cy="402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240">
                <a:solidFill>
                  <a:srgbClr val="1F1F24"/>
                </a:solidFill>
                <a:latin typeface="Open Sans"/>
              </a:rPr>
              <a:t>XLM-R needs 1.76 tokens for each token used by a Yoruba-specific 16k BPE—second-highest among 17 languages. A 128-token window holds about 44 Yoruba words with XLM-R versus 77 with the fitted vocabulary. Across languages, this penalty tracks XLM-R coverage.
Holding architecture, Yoruba text and compute fixed, swapping only the vocabulary changed downstream scores. The 16k vocabulary led the 250k XLM-R vocabulary by +0.144 on SIB-200 and +0.061 on MasakhaNER; every seed won in both tasks (four seeds per arm, exact p=0.029).
Boundary: Causal downstream evidence is still Yoruba-only. SIB-200 has just 204 test items, and NER did not receive the same dev-selection protocol. The next decisive test is the matched-compute vocabulary swap across four or five languages spanning the coverage gradient.</a:t>
            </a: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2057400" y="42867073"/>
            <a:ext cx="28803600" cy="1270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ooter_Sources"/>
          <p:cNvSpPr txBox="1">
            <a:spLocks/>
          </p:cNvSpPr>
          <p:nvPr/>
        </p:nvSpPr>
        <p:spPr>
          <a:xfrm>
            <a:off x="2057400" y="42988992"/>
            <a:ext cx="25648921" cy="251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152">
                <a:solidFill>
                  <a:srgbClr val="5E5A66"/>
                </a:solidFill>
                <a:latin typeface="Open Sans"/>
              </a:rPr>
              <a:t>Data: FineWeb-2 Yoruba, SIB-200, MasakhaNER · Models: XLM-R base, mmBERT base · Source: reports/13-the-top-board.md and committed runs/ records · 11 Aug 2026</a:t>
            </a:r>
          </a:p>
        </p:txBody>
      </p:sp>
      <p:sp>
        <p:nvSpPr>
          <p:cNvPr id="32" name="Footer_Tag"/>
          <p:cNvSpPr txBox="1">
            <a:spLocks/>
          </p:cNvSpPr>
          <p:nvPr/>
        </p:nvSpPr>
        <p:spPr>
          <a:xfrm>
            <a:off x="27432000" y="42988991"/>
            <a:ext cx="3429000" cy="264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48" b="1">
                <a:solidFill>
                  <a:srgbClr val="32006E"/>
                </a:solidFill>
                <a:latin typeface="Uni Sans Book"/>
              </a:rPr>
              <a:t>A2-NLP · 2026</a:t>
            </a:r>
          </a:p>
        </p:txBody>
      </p:sp>
      <p:pic>
        <p:nvPicPr>
          <p:cNvPr id="34" name="Embedded_01_HeadlineFigure" descr="reports\figures\01-headline.svg">
            <a:extLst>
              <a:ext uri="{FF2B5EF4-FFF2-40B4-BE49-F238E27FC236}">
                <a16:creationId xmlns:a16="http://schemas.microsoft.com/office/drawing/2014/main" id="{7A337E05-FE92-4904-96CC-C0C7CBBBA93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25456" y="11911584"/>
            <a:ext cx="16131530" cy="8375904"/>
          </a:xfrm>
          <a:prstGeom prst="rect">
            <a:avLst/>
          </a:prstGeom>
        </p:spPr>
      </p:pic>
      <p:pic>
        <p:nvPicPr>
          <p:cNvPr id="36" name="Embedded_02_GradientFigure" descr="reports\figures\02-tokenizer-gradient.svg">
            <a:extLst>
              <a:ext uri="{FF2B5EF4-FFF2-40B4-BE49-F238E27FC236}">
                <a16:creationId xmlns:a16="http://schemas.microsoft.com/office/drawing/2014/main" id="{DFFE4C87-7800-B16D-CFA6-2E647EBDE17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4546" y="22299168"/>
            <a:ext cx="11465754" cy="7888224"/>
          </a:xfrm>
          <a:prstGeom prst="rect">
            <a:avLst/>
          </a:prstGeom>
        </p:spPr>
      </p:pic>
      <p:pic>
        <p:nvPicPr>
          <p:cNvPr id="38" name="Embedded_03_DataFigure" descr="reports\figures\05-data-saturation.svg">
            <a:extLst>
              <a:ext uri="{FF2B5EF4-FFF2-40B4-BE49-F238E27FC236}">
                <a16:creationId xmlns:a16="http://schemas.microsoft.com/office/drawing/2014/main" id="{FE7D4813-71F5-4130-3813-5E78E3388BD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27169" y="22302222"/>
            <a:ext cx="12167615" cy="7882116"/>
          </a:xfrm>
          <a:prstGeom prst="rect">
            <a:avLst/>
          </a:prstGeom>
        </p:spPr>
      </p:pic>
      <p:pic>
        <p:nvPicPr>
          <p:cNvPr id="40" name="Embedded_04_LotteryFigure" descr="reports\figures\17-tokenizer-lottery.svg">
            <a:extLst>
              <a:ext uri="{FF2B5EF4-FFF2-40B4-BE49-F238E27FC236}">
                <a16:creationId xmlns:a16="http://schemas.microsoft.com/office/drawing/2014/main" id="{32D2B5EF-DEB9-C9FF-4BBF-6AD494DF4F8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23616" y="33968106"/>
            <a:ext cx="12167616" cy="577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8413</TotalTime>
  <Words>381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</vt:lpstr>
      <vt:lpstr>Encode Sans Normal</vt:lpstr>
      <vt:lpstr>Encode Sans Normal Black</vt:lpstr>
      <vt:lpstr>Arial</vt:lpstr>
      <vt:lpstr>Uni Sans Book</vt:lpstr>
      <vt:lpstr>Open Sans</vt:lpstr>
      <vt:lpstr>Uni Sans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Leon Wan</cp:lastModifiedBy>
  <cp:revision>30</cp:revision>
  <dcterms:created xsi:type="dcterms:W3CDTF">2018-02-07T04:27:03Z</dcterms:created>
  <dcterms:modified xsi:type="dcterms:W3CDTF">2026-08-13T04:54:05Z</dcterms:modified>
</cp:coreProperties>
</file>