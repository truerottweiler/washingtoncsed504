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32918400" cy="43891200"/>
  <p:notesSz cx="6858000" cy="9144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4" orient="horz" pos="26496" userDrawn="1">
          <p15:clr>
            <a:srgbClr val="A4A3A4"/>
          </p15:clr>
        </p15:guide>
        <p15:guide id="5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1152"/>
        <p:guide orient="horz" pos="2649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1036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19194586"/>
            <a:ext cx="1270" cy="22867815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19163321"/>
            <a:ext cx="1270" cy="22899078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57400" y="18475568"/>
            <a:ext cx="28803600" cy="1270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92" y="1843072"/>
            <a:ext cx="8580558" cy="503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020" y="1385743"/>
            <a:ext cx="4183380" cy="250342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2057401" y="2849605"/>
            <a:ext cx="25436945" cy="390250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469213"/>
            <a:ext cx="5815584" cy="12679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07407" y="8424333"/>
            <a:ext cx="28753594" cy="1126067"/>
          </a:xfrm>
        </p:spPr>
        <p:txBody>
          <a:bodyPr lIns="121920" tIns="60960" rIns="121920" bIns="60960"/>
          <a:lstStyle>
            <a:lvl1pPr marL="0" indent="0">
              <a:buNone/>
              <a:defRPr sz="48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280238"/>
            <a:ext cx="13608842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52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7" y="13509969"/>
            <a:ext cx="13608842" cy="448613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202150" y="11279718"/>
            <a:ext cx="13658850" cy="58906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4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202150" y="17396884"/>
            <a:ext cx="13658852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9194585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0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57403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86613" y="28246918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979356" y="31098600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57057" y="34245553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9017382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001500" y="19194585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023482" y="20878800"/>
            <a:ext cx="8893418" cy="7584017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44363" y="29506983"/>
            <a:ext cx="8829646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1500" y="30866048"/>
            <a:ext cx="891540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1502" y="32390597"/>
            <a:ext cx="8987471" cy="3640089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2001500" y="36493934"/>
            <a:ext cx="8915400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08986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7272863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453033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7272863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17050" y="1919458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111730" y="28449057"/>
            <a:ext cx="8714737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9079563" y="3125625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158866" y="34403205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2642751" y="29232464"/>
            <a:ext cx="8218251" cy="517074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54621" y="35681137"/>
            <a:ext cx="8706379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125381" y="37091370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2125382" y="38615922"/>
            <a:ext cx="8714737" cy="3556460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883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9948674"/>
            <a:ext cx="1270" cy="32113727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9997440"/>
            <a:ext cx="1270" cy="32064961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538" y="1857483"/>
            <a:ext cx="13727862" cy="9583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57400" y="3214253"/>
            <a:ext cx="28180147" cy="3316182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25373"/>
            <a:ext cx="5815584" cy="1267968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0158750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723319"/>
            <a:ext cx="8693943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352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8" y="13902252"/>
            <a:ext cx="8693941" cy="6062148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057402" y="20983992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979356" y="23882016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57057" y="27028967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1800801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2" y="2818976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71048" y="296744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71051" y="31198967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001500" y="9926353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023482" y="11610568"/>
            <a:ext cx="8893418" cy="9181833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023482" y="21560366"/>
            <a:ext cx="8893418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9832" y="2309879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9835" y="24623347"/>
            <a:ext cx="8714737" cy="6085253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39043" y="31743650"/>
            <a:ext cx="8848641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008986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2558031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453033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2558031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008986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12044333" y="37457549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453033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6484203" y="37457549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117050" y="10158750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11541798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1306634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124746" y="19221450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9108778" y="2207101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145191" y="25217969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22676555" y="19989800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22117050" y="26638638"/>
            <a:ext cx="8714739" cy="72592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2117053" y="34055831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117050" y="35708168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096171" y="371420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096173" y="38666564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88" y="2336800"/>
            <a:ext cx="28394025" cy="84836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188" y="11684000"/>
            <a:ext cx="28394025" cy="27848982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8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824" userDrawn="1">
          <p15:clr>
            <a:srgbClr val="F26B43"/>
          </p15:clr>
        </p15:guide>
        <p15:guide id="2" pos="1296" userDrawn="1">
          <p15:clr>
            <a:srgbClr val="F26B43"/>
          </p15:clr>
        </p15:guide>
        <p15:guide id="3" pos="19440" userDrawn="1">
          <p15:clr>
            <a:srgbClr val="F26B43"/>
          </p15:clr>
        </p15:guide>
        <p15:guide id="4" pos="6804" userDrawn="1">
          <p15:clr>
            <a:srgbClr val="F26B43"/>
          </p15:clr>
        </p15:guide>
        <p15:guide id="5" pos="7560" userDrawn="1">
          <p15:clr>
            <a:srgbClr val="F26B43"/>
          </p15:clr>
        </p15:guide>
        <p15:guide id="6" pos="13176" userDrawn="1">
          <p15:clr>
            <a:srgbClr val="F26B43"/>
          </p15:clr>
        </p15:guide>
        <p15:guide id="7" pos="139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LabelCover"/>
          <p:cNvSpPr>
            <a:spLocks/>
          </p:cNvSpPr>
          <p:nvPr/>
        </p:nvSpPr>
        <p:spPr>
          <a:xfrm>
            <a:off x="1947671" y="1341120"/>
            <a:ext cx="5966458" cy="3657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2057400" y="3203678"/>
            <a:ext cx="26471879" cy="1212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680" b="1">
                <a:solidFill>
                  <a:srgbClr val="FFFFFF"/>
                </a:solidFill>
                <a:latin typeface="Encode Sans Normal"/>
              </a:rPr>
              <a:t>Building a Model Factory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2098548" y="5303519"/>
            <a:ext cx="26060400" cy="5130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>
                <a:solidFill>
                  <a:srgbClr val="FFFFFF"/>
                </a:solidFill>
                <a:latin typeface="Uni Sans Book"/>
              </a:rPr>
              <a:t>From one-off notebooks to repeatable, challengeable experiments</a:t>
            </a:r>
          </a:p>
        </p:txBody>
      </p:sp>
      <p:sp>
        <p:nvSpPr>
          <p:cNvPr id="5" name="Header_Author"/>
          <p:cNvSpPr txBox="1">
            <a:spLocks/>
          </p:cNvSpPr>
          <p:nvPr/>
        </p:nvSpPr>
        <p:spPr>
          <a:xfrm>
            <a:off x="2098548" y="6364223"/>
            <a:ext cx="24688800" cy="3084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>
                <a:solidFill>
                  <a:srgbClr val="E8D3A2"/>
                </a:solidFill>
                <a:latin typeface="Open Sans"/>
              </a:rPr>
              <a:t>A2-NLP Project Team · CSED 504 · University of Washington · Summer 2026</a:t>
            </a:r>
          </a:p>
        </p:txBody>
      </p:sp>
      <p:sp>
        <p:nvSpPr>
          <p:cNvPr id="6" name="Takeaway_Background"/>
          <p:cNvSpPr>
            <a:spLocks/>
          </p:cNvSpPr>
          <p:nvPr/>
        </p:nvSpPr>
        <p:spPr>
          <a:xfrm>
            <a:off x="2057400" y="9326880"/>
            <a:ext cx="28803600" cy="1414272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keaway_Label"/>
          <p:cNvSpPr txBox="1">
            <a:spLocks/>
          </p:cNvSpPr>
          <p:nvPr/>
        </p:nvSpPr>
        <p:spPr>
          <a:xfrm>
            <a:off x="2441448" y="9893355"/>
            <a:ext cx="2125980" cy="33009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680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8" name="Takeaway_Text"/>
          <p:cNvSpPr txBox="1">
            <a:spLocks/>
          </p:cNvSpPr>
          <p:nvPr/>
        </p:nvSpPr>
        <p:spPr>
          <a:xfrm>
            <a:off x="4416552" y="9635853"/>
            <a:ext cx="26060400" cy="85728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480" b="1">
                <a:solidFill>
                  <a:srgbClr val="1F1F24"/>
                </a:solidFill>
                <a:latin typeface="Open Sans"/>
              </a:rPr>
              <a:t>The factory made hundreds of model comparisons affordable and auditable—then gave collaborators enough control to disprove results that initially looked convincing.</a:t>
            </a:r>
          </a:p>
        </p:txBody>
      </p:sp>
      <p:sp>
        <p:nvSpPr>
          <p:cNvPr id="9" name="EditorialInterface_Frame"/>
          <p:cNvSpPr>
            <a:spLocks/>
          </p:cNvSpPr>
          <p:nvPr/>
        </p:nvSpPr>
        <p:spPr>
          <a:xfrm>
            <a:off x="2057400" y="11216640"/>
            <a:ext cx="19751041" cy="1261872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EditorialInterface_Label"/>
          <p:cNvSpPr txBox="1">
            <a:spLocks/>
          </p:cNvSpPr>
          <p:nvPr/>
        </p:nvSpPr>
        <p:spPr>
          <a:xfrm>
            <a:off x="2359152" y="11362943"/>
            <a:ext cx="19147535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ONE SCREEN TO OPERATE THE FACTORY</a:t>
            </a:r>
          </a:p>
        </p:txBody>
      </p:sp>
      <p:sp>
        <p:nvSpPr>
          <p:cNvPr id="11" name="EditorialStatsBox"/>
          <p:cNvSpPr>
            <a:spLocks/>
          </p:cNvSpPr>
          <p:nvPr/>
        </p:nvSpPr>
        <p:spPr>
          <a:xfrm>
            <a:off x="22384513" y="11216640"/>
            <a:ext cx="8476488" cy="1261872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ditorialFactoryStat0"/>
          <p:cNvSpPr txBox="1">
            <a:spLocks/>
          </p:cNvSpPr>
          <p:nvPr/>
        </p:nvSpPr>
        <p:spPr>
          <a:xfrm>
            <a:off x="22933152" y="11728703"/>
            <a:ext cx="7379208" cy="8093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960" b="1">
                <a:solidFill>
                  <a:srgbClr val="FFFFFF"/>
                </a:solidFill>
                <a:latin typeface="Encode Sans Normal"/>
              </a:rPr>
              <a:t>9</a:t>
            </a:r>
          </a:p>
        </p:txBody>
      </p:sp>
      <p:sp>
        <p:nvSpPr>
          <p:cNvPr id="13" name="EditorialFactoryStat0Label"/>
          <p:cNvSpPr txBox="1">
            <a:spLocks/>
          </p:cNvSpPr>
          <p:nvPr/>
        </p:nvSpPr>
        <p:spPr>
          <a:xfrm>
            <a:off x="22933152" y="13191742"/>
            <a:ext cx="7379208" cy="3108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36" b="1">
                <a:solidFill>
                  <a:srgbClr val="E8D3A2"/>
                </a:solidFill>
                <a:latin typeface="Open Sans"/>
              </a:rPr>
              <a:t>public MLM API functions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24003000" y="14837663"/>
            <a:ext cx="5212080" cy="1270"/>
          </a:xfrm>
          <a:prstGeom prst="line">
            <a:avLst/>
          </a:prstGeom>
          <a:ln w="13547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itorialFactoryStat1"/>
          <p:cNvSpPr txBox="1">
            <a:spLocks/>
          </p:cNvSpPr>
          <p:nvPr/>
        </p:nvSpPr>
        <p:spPr>
          <a:xfrm>
            <a:off x="22933152" y="15605758"/>
            <a:ext cx="7379208" cy="8093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960" b="1">
                <a:solidFill>
                  <a:srgbClr val="FFFFFF"/>
                </a:solidFill>
                <a:latin typeface="Encode Sans Normal"/>
              </a:rPr>
              <a:t>2.07×</a:t>
            </a:r>
          </a:p>
        </p:txBody>
      </p:sp>
      <p:sp>
        <p:nvSpPr>
          <p:cNvPr id="16" name="EditorialFactoryStat1Label"/>
          <p:cNvSpPr txBox="1">
            <a:spLocks/>
          </p:cNvSpPr>
          <p:nvPr/>
        </p:nvSpPr>
        <p:spPr>
          <a:xfrm>
            <a:off x="22933152" y="17068798"/>
            <a:ext cx="7379208" cy="3108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36" b="1">
                <a:solidFill>
                  <a:srgbClr val="E8D3A2"/>
                </a:solidFill>
                <a:latin typeface="Open Sans"/>
              </a:rPr>
              <a:t>faster end-to-end · 1.32× efficiency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24003000" y="18714720"/>
            <a:ext cx="5212080" cy="1270"/>
          </a:xfrm>
          <a:prstGeom prst="line">
            <a:avLst/>
          </a:prstGeom>
          <a:ln w="13547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itorialFactoryStat2"/>
          <p:cNvSpPr txBox="1">
            <a:spLocks/>
          </p:cNvSpPr>
          <p:nvPr/>
        </p:nvSpPr>
        <p:spPr>
          <a:xfrm>
            <a:off x="22933152" y="19482816"/>
            <a:ext cx="7379208" cy="8093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960" b="1">
                <a:solidFill>
                  <a:srgbClr val="FFFFFF"/>
                </a:solidFill>
                <a:latin typeface="Encode Sans Normal"/>
              </a:rPr>
              <a:t>197</a:t>
            </a:r>
          </a:p>
        </p:txBody>
      </p:sp>
      <p:sp>
        <p:nvSpPr>
          <p:cNvPr id="19" name="EditorialFactoryStat2Label"/>
          <p:cNvSpPr txBox="1">
            <a:spLocks/>
          </p:cNvSpPr>
          <p:nvPr/>
        </p:nvSpPr>
        <p:spPr>
          <a:xfrm>
            <a:off x="22933152" y="20945855"/>
            <a:ext cx="7379208" cy="3108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36" b="1">
                <a:solidFill>
                  <a:srgbClr val="E8D3A2"/>
                </a:solidFill>
                <a:latin typeface="Open Sans"/>
              </a:rPr>
              <a:t>pretraining run records</a:t>
            </a:r>
          </a:p>
        </p:txBody>
      </p:sp>
      <p:sp>
        <p:nvSpPr>
          <p:cNvPr id="20" name="EditorialSpeed_Frame"/>
          <p:cNvSpPr>
            <a:spLocks/>
          </p:cNvSpPr>
          <p:nvPr/>
        </p:nvSpPr>
        <p:spPr>
          <a:xfrm>
            <a:off x="2057400" y="24444959"/>
            <a:ext cx="18036539" cy="102412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EditorialSpeed_Label"/>
          <p:cNvSpPr txBox="1">
            <a:spLocks/>
          </p:cNvSpPr>
          <p:nvPr/>
        </p:nvSpPr>
        <p:spPr>
          <a:xfrm>
            <a:off x="2359152" y="24591263"/>
            <a:ext cx="17433035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ITERATION BECAME AFFORDABLE</a:t>
            </a:r>
          </a:p>
        </p:txBody>
      </p:sp>
      <p:sp>
        <p:nvSpPr>
          <p:cNvPr id="22" name="EditorialWorkflow_Box"/>
          <p:cNvSpPr>
            <a:spLocks/>
          </p:cNvSpPr>
          <p:nvPr/>
        </p:nvSpPr>
        <p:spPr>
          <a:xfrm>
            <a:off x="20683728" y="24444959"/>
            <a:ext cx="10177272" cy="10241280"/>
          </a:xfrm>
          <a:prstGeom prst="roundRect">
            <a:avLst/>
          </a:prstGeom>
          <a:solidFill>
            <a:srgbClr val="F8F2E4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EditorialWorkflow_Accent"/>
          <p:cNvSpPr>
            <a:spLocks/>
          </p:cNvSpPr>
          <p:nvPr/>
        </p:nvSpPr>
        <p:spPr>
          <a:xfrm>
            <a:off x="20683728" y="24444959"/>
            <a:ext cx="150876" cy="10241280"/>
          </a:xfrm>
          <a:prstGeom prst="rect">
            <a:avLst/>
          </a:prstGeom>
          <a:solidFill>
            <a:srgbClr val="F06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ditorialWorkflow_Heading"/>
          <p:cNvSpPr txBox="1">
            <a:spLocks/>
          </p:cNvSpPr>
          <p:nvPr/>
        </p:nvSpPr>
        <p:spPr>
          <a:xfrm>
            <a:off x="21095208" y="24774145"/>
            <a:ext cx="9381744" cy="52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40" b="1">
                <a:solidFill>
                  <a:srgbClr val="F0652F"/>
                </a:solidFill>
                <a:latin typeface="Encode Sans Normal"/>
              </a:rPr>
              <a:t>The operating rule</a:t>
            </a:r>
          </a:p>
        </p:txBody>
      </p:sp>
      <p:sp>
        <p:nvSpPr>
          <p:cNvPr id="25" name="EditorialWorkflow_Body"/>
          <p:cNvSpPr txBox="1">
            <a:spLocks/>
          </p:cNvSpPr>
          <p:nvPr/>
        </p:nvSpPr>
        <p:spPr>
          <a:xfrm>
            <a:off x="21095208" y="25786079"/>
            <a:ext cx="9381744" cy="311130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12">
                <a:solidFill>
                  <a:srgbClr val="1F1F24"/>
                </a:solidFill>
                <a:latin typeface="Open Sans"/>
              </a:rPr>
              <a:t>Prepare once → inspect and fingerprint → estimate on the actual GPU → pretrain one cell or queue a fleet → read curves and results through the same API. Interactive exploration stays in notebooks; expensive work moves to restartable processes.
On the Yoruba corpus, reading, fitting the BPE, encoding 260M characters and moving the flat token store to GPU took 53 seconds. One 98M-parameter training run took 85 minutes—a 96× ratio that defines the boundary between interactive work and unattended queues.</a:t>
            </a:r>
          </a:p>
        </p:txBody>
      </p:sp>
      <p:sp>
        <p:nvSpPr>
          <p:cNvPr id="26" name="EditorialRecords_Box"/>
          <p:cNvSpPr>
            <a:spLocks/>
          </p:cNvSpPr>
          <p:nvPr/>
        </p:nvSpPr>
        <p:spPr>
          <a:xfrm>
            <a:off x="2057400" y="35234882"/>
            <a:ext cx="9217152" cy="7022592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ditorialRecords_Accent"/>
          <p:cNvSpPr>
            <a:spLocks/>
          </p:cNvSpPr>
          <p:nvPr/>
        </p:nvSpPr>
        <p:spPr>
          <a:xfrm>
            <a:off x="2057400" y="35234882"/>
            <a:ext cx="150876" cy="702259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ditorialRecords_Heading"/>
          <p:cNvSpPr txBox="1">
            <a:spLocks/>
          </p:cNvSpPr>
          <p:nvPr/>
        </p:nvSpPr>
        <p:spPr>
          <a:xfrm>
            <a:off x="2468880" y="35564065"/>
            <a:ext cx="8421624" cy="465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640" b="1">
                <a:solidFill>
                  <a:srgbClr val="32006E"/>
                </a:solidFill>
                <a:latin typeface="Encode Sans Normal"/>
              </a:rPr>
              <a:t>Identity</a:t>
            </a:r>
          </a:p>
        </p:txBody>
      </p:sp>
      <p:sp>
        <p:nvSpPr>
          <p:cNvPr id="29" name="EditorialRecords_Body"/>
          <p:cNvSpPr txBox="1">
            <a:spLocks/>
          </p:cNvSpPr>
          <p:nvPr/>
        </p:nvSpPr>
        <p:spPr>
          <a:xfrm>
            <a:off x="2468880" y="36576000"/>
            <a:ext cx="8421624" cy="17647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12">
                <a:solidFill>
                  <a:srgbClr val="1F1F24"/>
                </a:solidFill>
                <a:latin typeface="Open Sans"/>
              </a:rPr>
              <a:t>Every setting that can move a number belongs in the record. Corpora and vocabularies carry fingerprints; run reuse refuses mismatched settings. The current evidence base contains 197 pretraining runs, 278 fine-tuning records and 892 individual fine-tuning runs.</a:t>
            </a:r>
          </a:p>
        </p:txBody>
      </p:sp>
      <p:sp>
        <p:nvSpPr>
          <p:cNvPr id="30" name="EditorialStats_Box"/>
          <p:cNvSpPr>
            <a:spLocks/>
          </p:cNvSpPr>
          <p:nvPr/>
        </p:nvSpPr>
        <p:spPr>
          <a:xfrm>
            <a:off x="11850624" y="35234882"/>
            <a:ext cx="9217152" cy="7022592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ditorialStats_Accent"/>
          <p:cNvSpPr>
            <a:spLocks/>
          </p:cNvSpPr>
          <p:nvPr/>
        </p:nvSpPr>
        <p:spPr>
          <a:xfrm>
            <a:off x="11850624" y="35234882"/>
            <a:ext cx="150876" cy="702259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EditorialStats_Heading"/>
          <p:cNvSpPr txBox="1">
            <a:spLocks/>
          </p:cNvSpPr>
          <p:nvPr/>
        </p:nvSpPr>
        <p:spPr>
          <a:xfrm>
            <a:off x="12262104" y="35564065"/>
            <a:ext cx="8421624" cy="465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640" b="1">
                <a:solidFill>
                  <a:srgbClr val="32006E"/>
                </a:solidFill>
                <a:latin typeface="Encode Sans Normal"/>
              </a:rPr>
              <a:t>Statistical guardrails</a:t>
            </a:r>
          </a:p>
        </p:txBody>
      </p:sp>
      <p:sp>
        <p:nvSpPr>
          <p:cNvPr id="33" name="EditorialStats_Body"/>
          <p:cNvSpPr txBox="1">
            <a:spLocks/>
          </p:cNvSpPr>
          <p:nvPr/>
        </p:nvSpPr>
        <p:spPr>
          <a:xfrm>
            <a:off x="12262104" y="36576000"/>
            <a:ext cx="8421624" cy="140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080">
                <a:solidFill>
                  <a:srgbClr val="1F1F24"/>
                </a:solidFill>
                <a:latin typeface="Open Sans"/>
              </a:rPr>
              <a:t>At three seeds per arm, a mean difference must be about 2.27× the pooled sample spread to clear a two-sided 0.05 t-threshold. An exact permutation test cannot return below p=0.10 with 3 vs 3. A pre-registered sample size limits what a run grid is allowed to claim.</a:t>
            </a:r>
          </a:p>
        </p:txBody>
      </p:sp>
      <p:sp>
        <p:nvSpPr>
          <p:cNvPr id="34" name="EditorialFailure_Box"/>
          <p:cNvSpPr>
            <a:spLocks/>
          </p:cNvSpPr>
          <p:nvPr/>
        </p:nvSpPr>
        <p:spPr>
          <a:xfrm>
            <a:off x="21643848" y="35234882"/>
            <a:ext cx="9217152" cy="7022592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ditorialFailure_Accent"/>
          <p:cNvSpPr>
            <a:spLocks/>
          </p:cNvSpPr>
          <p:nvPr/>
        </p:nvSpPr>
        <p:spPr>
          <a:xfrm>
            <a:off x="21643848" y="35234882"/>
            <a:ext cx="150876" cy="702259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EditorialFailure_Heading"/>
          <p:cNvSpPr txBox="1">
            <a:spLocks/>
          </p:cNvSpPr>
          <p:nvPr/>
        </p:nvSpPr>
        <p:spPr>
          <a:xfrm>
            <a:off x="22055327" y="35564065"/>
            <a:ext cx="8421624" cy="465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640" b="1">
                <a:solidFill>
                  <a:srgbClr val="32006E"/>
                </a:solidFill>
                <a:latin typeface="Encode Sans Normal"/>
              </a:rPr>
              <a:t>Failure is evidence</a:t>
            </a:r>
          </a:p>
        </p:txBody>
      </p:sp>
      <p:sp>
        <p:nvSpPr>
          <p:cNvPr id="37" name="EditorialFailure_Body"/>
          <p:cNvSpPr txBox="1">
            <a:spLocks/>
          </p:cNvSpPr>
          <p:nvPr/>
        </p:nvSpPr>
        <p:spPr>
          <a:xfrm>
            <a:off x="22055327" y="36576000"/>
            <a:ext cx="8421624" cy="140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080">
                <a:solidFill>
                  <a:srgbClr val="1F1F24"/>
                </a:solidFill>
                <a:latin typeface="Open Sans"/>
              </a:rPr>
              <a:t>Healthy and doomed runs overlapped at all 11 early checkpoints, so the proposed detector could not work. The claims gate reports 6 supported, 2 unsupported and 1 underpowered claim—and keeps the failures visible.</a:t>
            </a:r>
          </a:p>
        </p:txBody>
      </p:sp>
      <p:cxnSp>
        <p:nvCxnSpPr>
          <p:cNvPr id="38" name="Connector 37"/>
          <p:cNvCxnSpPr>
            <a:cxnSpLocks/>
          </p:cNvCxnSpPr>
          <p:nvPr/>
        </p:nvCxnSpPr>
        <p:spPr>
          <a:xfrm>
            <a:off x="2057400" y="42867073"/>
            <a:ext cx="288036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ooter_Sources"/>
          <p:cNvSpPr txBox="1">
            <a:spLocks/>
          </p:cNvSpPr>
          <p:nvPr/>
        </p:nvSpPr>
        <p:spPr>
          <a:xfrm>
            <a:off x="2057400" y="42988992"/>
            <a:ext cx="25648921" cy="251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52">
                <a:solidFill>
                  <a:srgbClr val="5E5A66"/>
                </a:solidFill>
                <a:latin typeface="Open Sans"/>
              </a:rPr>
              <a:t>Source: reports/09-the-poster.md and reports/12-poster-build-sheet-v2.md · Counts and figures regenerate from committed runs/ records · 12 Aug 2026</a:t>
            </a:r>
          </a:p>
        </p:txBody>
      </p:sp>
      <p:sp>
        <p:nvSpPr>
          <p:cNvPr id="40" name="Footer_Tag"/>
          <p:cNvSpPr txBox="1">
            <a:spLocks/>
          </p:cNvSpPr>
          <p:nvPr/>
        </p:nvSpPr>
        <p:spPr>
          <a:xfrm>
            <a:off x="27432000" y="42988991"/>
            <a:ext cx="3429000" cy="264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48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42" name="Embedded_01_EditorialInterface" descr="reports\figures\19-the-interface.svg">
            <a:extLst>
              <a:ext uri="{FF2B5EF4-FFF2-40B4-BE49-F238E27FC236}">
                <a16:creationId xmlns:a16="http://schemas.microsoft.com/office/drawing/2014/main" id="{88B93F25-0C22-3908-AC3A-C17AAC6E39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7561" y="12799827"/>
            <a:ext cx="17190720" cy="9964406"/>
          </a:xfrm>
          <a:prstGeom prst="rect">
            <a:avLst/>
          </a:prstGeom>
        </p:spPr>
      </p:pic>
      <p:pic>
        <p:nvPicPr>
          <p:cNvPr id="44" name="Embedded_02_EditorialSpeed" descr="reports\figures\14-where-the-speedup-came-from.svg">
            <a:extLst>
              <a:ext uri="{FF2B5EF4-FFF2-40B4-BE49-F238E27FC236}">
                <a16:creationId xmlns:a16="http://schemas.microsoft.com/office/drawing/2014/main" id="{44BE9F10-F5F2-7C51-6355-ED6F5B0109A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9235" y="25139904"/>
            <a:ext cx="13192869" cy="936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344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30</cp:revision>
  <dcterms:created xsi:type="dcterms:W3CDTF">2018-02-07T04:27:03Z</dcterms:created>
  <dcterms:modified xsi:type="dcterms:W3CDTF">2026-08-13T04:54:39Z</dcterms:modified>
</cp:coreProperties>
</file>