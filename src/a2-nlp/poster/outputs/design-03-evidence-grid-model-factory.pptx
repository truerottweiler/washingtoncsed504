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43891200" cy="32918400"/>
  <p:notesSz cx="9144000" cy="6858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4" orient="horz" pos="29808" userDrawn="1">
          <p15:clr>
            <a:srgbClr val="A4A3A4"/>
          </p15:clr>
        </p15:guide>
        <p15:guide id="5" pos="92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33" d="100"/>
          <a:sy n="33" d="100"/>
        </p:scale>
        <p:origin x="1314" y="120"/>
      </p:cViewPr>
      <p:guideLst>
        <p:guide orient="horz" pos="1296"/>
        <p:guide orient="horz" pos="29808"/>
        <p:guide pos="92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3891200" cy="7242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9867" y="8244408"/>
            <a:ext cx="1270" cy="22930923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9CE18A-5FD0-8112-17A2-4EA5735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945600" y="8244408"/>
            <a:ext cx="1270" cy="22930923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E42AEF-A90F-B6FA-C7F4-149DD55D3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473295" y="8244408"/>
            <a:ext cx="1270" cy="22930923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4384" y="3204013"/>
            <a:ext cx="5332816" cy="403895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519384" y="1706918"/>
            <a:ext cx="33990998" cy="254675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7254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385" y="3834207"/>
            <a:ext cx="5169408" cy="142646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523998" y="5986986"/>
            <a:ext cx="33986384" cy="984876"/>
          </a:xfrm>
        </p:spPr>
        <p:txBody>
          <a:bodyPr lIns="121920" tIns="60960" rIns="121920" bIns="60960"/>
          <a:lstStyle>
            <a:lvl1pPr marL="0" indent="0">
              <a:buNone/>
              <a:defRPr sz="45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4000" y="8244408"/>
            <a:ext cx="9296400" cy="275462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95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562611" y="11294928"/>
            <a:ext cx="9296395" cy="9490089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5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19385" y="22227260"/>
            <a:ext cx="9296395" cy="1894742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20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38931" y="24122001"/>
            <a:ext cx="9305568" cy="7081900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7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069652" y="8083740"/>
            <a:ext cx="9292620" cy="864395"/>
          </a:xfrm>
        </p:spPr>
        <p:txBody>
          <a:bodyPr lIns="121920" tIns="60960" rIns="121920" bIns="60960"/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10098614" y="11851194"/>
            <a:ext cx="5043433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43380" y="14667920"/>
            <a:ext cx="9292620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2515699" y="8994059"/>
            <a:ext cx="8820300" cy="56407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76544" y="16225455"/>
            <a:ext cx="9285727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076546" y="17785469"/>
            <a:ext cx="9259454" cy="1157330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076549" y="18959733"/>
            <a:ext cx="9259450" cy="4975902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081787" y="24666485"/>
            <a:ext cx="9254213" cy="538624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4800"/>
            </a:lvl1pPr>
          </a:lstStyle>
          <a:p>
            <a:pPr marL="548721" marR="0" lvl="0" indent="-548721" algn="l" defTabSz="2194889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2081793" y="30218125"/>
            <a:ext cx="9280479" cy="67389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92145" y="7969023"/>
            <a:ext cx="9259454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99549" y="9478437"/>
            <a:ext cx="9252049" cy="1052952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599557" y="10816905"/>
            <a:ext cx="9252041" cy="4833978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2582969" y="16572596"/>
            <a:ext cx="9229534" cy="864395"/>
          </a:xfrm>
        </p:spPr>
        <p:txBody>
          <a:bodyPr lIns="121920" tIns="60960" rIns="121920" bIns="60960"/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582973" y="22429828"/>
            <a:ext cx="4499781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22582970" y="17448892"/>
            <a:ext cx="4499783" cy="49678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7077271" y="22429828"/>
            <a:ext cx="4774329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27077271" y="17448892"/>
            <a:ext cx="4735235" cy="49678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566155" y="23755400"/>
            <a:ext cx="9285442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2599555" y="25284342"/>
            <a:ext cx="9252044" cy="13081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2599563" y="26781749"/>
            <a:ext cx="9252039" cy="4393579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070800" y="8018173"/>
            <a:ext cx="9296400" cy="864395"/>
          </a:xfrm>
        </p:spPr>
        <p:txBody>
          <a:bodyPr lIns="121920" tIns="60960" rIns="121920" bIns="60960"/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31048588" y="11808061"/>
            <a:ext cx="5229079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112698" y="14716585"/>
            <a:ext cx="9215889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33542818" y="8899500"/>
            <a:ext cx="8824385" cy="58170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07747" y="16218381"/>
            <a:ext cx="9215890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081747" y="17721769"/>
            <a:ext cx="9285450" cy="123796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081754" y="19175623"/>
            <a:ext cx="9296400" cy="4967883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070800" y="24688806"/>
            <a:ext cx="9296399" cy="53639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003"/>
            </a:lvl1pPr>
          </a:lstStyle>
          <a:p>
            <a:pPr marL="548721" marR="0" lvl="0" indent="-548721" algn="l" defTabSz="2194889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070806" y="30199016"/>
            <a:ext cx="9296395" cy="67389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14500"/>
            <a:ext cx="40843200" cy="954405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8" y="11310504"/>
            <a:ext cx="40843200" cy="19893395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2194889" rtl="0" eaLnBrk="1" latinLnBrk="0" hangingPunct="1">
        <a:lnSpc>
          <a:spcPct val="90000"/>
        </a:lnSpc>
        <a:spcBef>
          <a:spcPct val="0"/>
        </a:spcBef>
        <a:buNone/>
        <a:defRPr sz="17254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721" indent="-548721" algn="l" defTabSz="2194889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646168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613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841056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938501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947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3391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30834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8280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445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889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2335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777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7224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4669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2112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9557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960" userDrawn="1">
          <p15:clr>
            <a:srgbClr val="F26B43"/>
          </p15:clr>
        </p15:guide>
        <p15:guide id="3" pos="26688" userDrawn="1">
          <p15:clr>
            <a:srgbClr val="F26B43"/>
          </p15:clr>
        </p15:guide>
        <p15:guide id="4" pos="6816" userDrawn="1">
          <p15:clr>
            <a:srgbClr val="F26B43"/>
          </p15:clr>
        </p15:guide>
        <p15:guide id="5" pos="20832" userDrawn="1">
          <p15:clr>
            <a:srgbClr val="F26B43"/>
          </p15:clr>
        </p15:guide>
        <p15:guide id="6" pos="7584" userDrawn="1">
          <p15:clr>
            <a:srgbClr val="F26B43"/>
          </p15:clr>
        </p15:guide>
        <p15:guide id="7" pos="20064" userDrawn="1">
          <p15:clr>
            <a:srgbClr val="F26B43"/>
          </p15:clr>
        </p15:guide>
        <p15:guide id="8" pos="13440" userDrawn="1">
          <p15:clr>
            <a:srgbClr val="F26B43"/>
          </p15:clr>
        </p15:guide>
        <p15:guide id="9" pos="14208" userDrawn="1">
          <p15:clr>
            <a:srgbClr val="F26B43"/>
          </p15:clr>
        </p15:guide>
        <p15:guide id="10" pos="13824" userDrawn="1">
          <p15:clr>
            <a:srgbClr val="F26B43"/>
          </p15:clr>
        </p15:guide>
        <p15:guide id="11" orient="horz" pos="19656" userDrawn="1">
          <p15:clr>
            <a:srgbClr val="F26B43"/>
          </p15:clr>
        </p15:guide>
        <p15:guide id="12" orient="horz" pos="1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Eyebrow"/>
          <p:cNvSpPr txBox="1">
            <a:spLocks/>
          </p:cNvSpPr>
          <p:nvPr/>
        </p:nvSpPr>
        <p:spPr>
          <a:xfrm>
            <a:off x="1524000" y="1124711"/>
            <a:ext cx="5730240" cy="3025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E8D3A2"/>
                </a:solidFill>
                <a:latin typeface="Uni Sans Book"/>
              </a:rPr>
              <a:t>A2-NLP · EXPERIMENT INFRASTRUCTURE</a:t>
            </a:r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1524000" y="2054236"/>
            <a:ext cx="34625282" cy="118590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500" b="1">
                <a:solidFill>
                  <a:srgbClr val="FFFFFF"/>
                </a:solidFill>
                <a:latin typeface="Encode Sans Normal"/>
              </a:rPr>
              <a:t>Building a Model Factory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1560576" y="3813047"/>
            <a:ext cx="32308800" cy="5312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00">
                <a:solidFill>
                  <a:srgbClr val="FFFFFF"/>
                </a:solidFill>
                <a:latin typeface="Uni Sans Book"/>
              </a:rPr>
              <a:t>From one-off notebooks to repeatable, challengeable experiments</a:t>
            </a:r>
          </a:p>
        </p:txBody>
      </p:sp>
      <p:sp>
        <p:nvSpPr>
          <p:cNvPr id="5" name="Takeaway_Background"/>
          <p:cNvSpPr>
            <a:spLocks/>
          </p:cNvSpPr>
          <p:nvPr/>
        </p:nvSpPr>
        <p:spPr>
          <a:xfrm>
            <a:off x="1524000" y="5829300"/>
            <a:ext cx="40843200" cy="1440180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akeaway_Label"/>
          <p:cNvSpPr txBox="1">
            <a:spLocks/>
          </p:cNvSpPr>
          <p:nvPr/>
        </p:nvSpPr>
        <p:spPr>
          <a:xfrm>
            <a:off x="1865376" y="6419793"/>
            <a:ext cx="1889760" cy="3140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575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7" name="Takeaway_Text"/>
          <p:cNvSpPr txBox="1">
            <a:spLocks/>
          </p:cNvSpPr>
          <p:nvPr/>
        </p:nvSpPr>
        <p:spPr>
          <a:xfrm>
            <a:off x="3621024" y="6367371"/>
            <a:ext cx="38404800" cy="4326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25" b="1">
                <a:solidFill>
                  <a:srgbClr val="1F1F24"/>
                </a:solidFill>
                <a:latin typeface="Open Sans"/>
              </a:rPr>
              <a:t>The factory made hundreds of model comparisons affordable and auditable—then gave collaborators enough control to disprove results that initially looked convincing.</a:t>
            </a:r>
          </a:p>
        </p:txBody>
      </p:sp>
      <p:sp>
        <p:nvSpPr>
          <p:cNvPr id="8" name="GridSpeed_Frame"/>
          <p:cNvSpPr>
            <a:spLocks/>
          </p:cNvSpPr>
          <p:nvPr/>
        </p:nvSpPr>
        <p:spPr>
          <a:xfrm>
            <a:off x="1524000" y="7845551"/>
            <a:ext cx="20726400" cy="1250899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GridSpeed_Label"/>
          <p:cNvSpPr txBox="1">
            <a:spLocks/>
          </p:cNvSpPr>
          <p:nvPr/>
        </p:nvSpPr>
        <p:spPr>
          <a:xfrm>
            <a:off x="1792224" y="8010144"/>
            <a:ext cx="20189951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MEASURE</a:t>
            </a:r>
          </a:p>
        </p:txBody>
      </p:sp>
      <p:sp>
        <p:nvSpPr>
          <p:cNvPr id="10" name="GridFactoryIntro_Box"/>
          <p:cNvSpPr>
            <a:spLocks/>
          </p:cNvSpPr>
          <p:nvPr/>
        </p:nvSpPr>
        <p:spPr>
          <a:xfrm>
            <a:off x="22774655" y="7845552"/>
            <a:ext cx="19592545" cy="6144768"/>
          </a:xfrm>
          <a:prstGeom prst="roundRect">
            <a:avLst/>
          </a:prstGeom>
          <a:solidFill>
            <a:srgbClr val="EEEAF4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ridFactoryIntro_Accent"/>
          <p:cNvSpPr>
            <a:spLocks/>
          </p:cNvSpPr>
          <p:nvPr/>
        </p:nvSpPr>
        <p:spPr>
          <a:xfrm>
            <a:off x="22774655" y="7845552"/>
            <a:ext cx="134112" cy="6144768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ridFactoryIntro_Heading"/>
          <p:cNvSpPr txBox="1">
            <a:spLocks/>
          </p:cNvSpPr>
          <p:nvPr/>
        </p:nvSpPr>
        <p:spPr>
          <a:xfrm>
            <a:off x="23140417" y="8215884"/>
            <a:ext cx="18885408" cy="5186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32006E"/>
                </a:solidFill>
                <a:latin typeface="Encode Sans Normal"/>
              </a:rPr>
              <a:t>From notebook state to evidence</a:t>
            </a:r>
          </a:p>
        </p:txBody>
      </p:sp>
      <p:sp>
        <p:nvSpPr>
          <p:cNvPr id="13" name="GridFactoryIntro_Body"/>
          <p:cNvSpPr txBox="1">
            <a:spLocks/>
          </p:cNvSpPr>
          <p:nvPr/>
        </p:nvSpPr>
        <p:spPr>
          <a:xfrm>
            <a:off x="23140417" y="9354311"/>
            <a:ext cx="18885408" cy="18152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75">
                <a:solidFill>
                  <a:srgbClr val="1F1F24"/>
                </a:solidFill>
                <a:latin typeface="Open Sans"/>
              </a:rPr>
              <a:t>A scaling study varies data, compute, model size, language, seed and learning rate. Managing that grid by notebook state and filenames is not reproducibility. The factory turns each cell into a self-describing job, checkpoint and result record.
The same four cells fell from 25.2 to 12.2 minutes: 2.07× end-to-end. Only 1.32× was true efficiency from a better batch; the rest was two cards working in parallel. Reporting the decomposition keeps hardware scale from masquerading as algorithmic efficiency.</a:t>
            </a:r>
          </a:p>
        </p:txBody>
      </p:sp>
      <p:sp>
        <p:nvSpPr>
          <p:cNvPr id="14" name="GridStat0_Box"/>
          <p:cNvSpPr>
            <a:spLocks/>
          </p:cNvSpPr>
          <p:nvPr/>
        </p:nvSpPr>
        <p:spPr>
          <a:xfrm>
            <a:off x="22774655" y="14607539"/>
            <a:ext cx="4486656" cy="5747004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ridStat0_Value"/>
          <p:cNvSpPr txBox="1">
            <a:spLocks/>
          </p:cNvSpPr>
          <p:nvPr/>
        </p:nvSpPr>
        <p:spPr>
          <a:xfrm>
            <a:off x="22945345" y="16062440"/>
            <a:ext cx="4145280" cy="6076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Encode Sans Normal"/>
              </a:rPr>
              <a:t>9</a:t>
            </a:r>
          </a:p>
        </p:txBody>
      </p:sp>
      <p:sp>
        <p:nvSpPr>
          <p:cNvPr id="16" name="GridStat0_Label"/>
          <p:cNvSpPr txBox="1">
            <a:spLocks/>
          </p:cNvSpPr>
          <p:nvPr/>
        </p:nvSpPr>
        <p:spPr>
          <a:xfrm>
            <a:off x="22994113" y="18685874"/>
            <a:ext cx="4047744" cy="2914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10" b="1">
                <a:solidFill>
                  <a:srgbClr val="E8D3A2"/>
                </a:solidFill>
                <a:latin typeface="Open Sans"/>
              </a:rPr>
              <a:t>public MLM API functions</a:t>
            </a:r>
          </a:p>
        </p:txBody>
      </p:sp>
      <p:sp>
        <p:nvSpPr>
          <p:cNvPr id="17" name="GridStat1_Box"/>
          <p:cNvSpPr>
            <a:spLocks/>
          </p:cNvSpPr>
          <p:nvPr/>
        </p:nvSpPr>
        <p:spPr>
          <a:xfrm>
            <a:off x="27785569" y="14607539"/>
            <a:ext cx="4486656" cy="5747004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GridStat1_Value"/>
          <p:cNvSpPr txBox="1">
            <a:spLocks/>
          </p:cNvSpPr>
          <p:nvPr/>
        </p:nvSpPr>
        <p:spPr>
          <a:xfrm>
            <a:off x="27956256" y="16062440"/>
            <a:ext cx="4145280" cy="6076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Encode Sans Normal"/>
              </a:rPr>
              <a:t>2.07×</a:t>
            </a:r>
          </a:p>
        </p:txBody>
      </p:sp>
      <p:sp>
        <p:nvSpPr>
          <p:cNvPr id="19" name="GridStat1_Label"/>
          <p:cNvSpPr txBox="1">
            <a:spLocks/>
          </p:cNvSpPr>
          <p:nvPr/>
        </p:nvSpPr>
        <p:spPr>
          <a:xfrm>
            <a:off x="28005022" y="18685874"/>
            <a:ext cx="4047744" cy="2914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10" b="1">
                <a:solidFill>
                  <a:srgbClr val="E8D3A2"/>
                </a:solidFill>
                <a:latin typeface="Open Sans"/>
              </a:rPr>
              <a:t>faster end-to-end · 1.32× efficiency</a:t>
            </a:r>
          </a:p>
        </p:txBody>
      </p:sp>
      <p:sp>
        <p:nvSpPr>
          <p:cNvPr id="20" name="GridStat2_Box"/>
          <p:cNvSpPr>
            <a:spLocks/>
          </p:cNvSpPr>
          <p:nvPr/>
        </p:nvSpPr>
        <p:spPr>
          <a:xfrm>
            <a:off x="32796482" y="14607539"/>
            <a:ext cx="4486656" cy="5747004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GridStat2_Value"/>
          <p:cNvSpPr txBox="1">
            <a:spLocks/>
          </p:cNvSpPr>
          <p:nvPr/>
        </p:nvSpPr>
        <p:spPr>
          <a:xfrm>
            <a:off x="32967169" y="16062440"/>
            <a:ext cx="4145280" cy="6076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Encode Sans Normal"/>
              </a:rPr>
              <a:t>197</a:t>
            </a:r>
          </a:p>
        </p:txBody>
      </p:sp>
      <p:sp>
        <p:nvSpPr>
          <p:cNvPr id="22" name="GridStat2_Label"/>
          <p:cNvSpPr txBox="1">
            <a:spLocks/>
          </p:cNvSpPr>
          <p:nvPr/>
        </p:nvSpPr>
        <p:spPr>
          <a:xfrm>
            <a:off x="33015935" y="18685874"/>
            <a:ext cx="4047744" cy="2914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10" b="1">
                <a:solidFill>
                  <a:srgbClr val="E8D3A2"/>
                </a:solidFill>
                <a:latin typeface="Open Sans"/>
              </a:rPr>
              <a:t>pretraining run records</a:t>
            </a:r>
          </a:p>
        </p:txBody>
      </p:sp>
      <p:sp>
        <p:nvSpPr>
          <p:cNvPr id="23" name="GridStat3_Box"/>
          <p:cNvSpPr>
            <a:spLocks/>
          </p:cNvSpPr>
          <p:nvPr/>
        </p:nvSpPr>
        <p:spPr>
          <a:xfrm>
            <a:off x="37807392" y="14607539"/>
            <a:ext cx="4486656" cy="5747004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GridStat3_Value"/>
          <p:cNvSpPr txBox="1">
            <a:spLocks/>
          </p:cNvSpPr>
          <p:nvPr/>
        </p:nvSpPr>
        <p:spPr>
          <a:xfrm>
            <a:off x="37978082" y="16062440"/>
            <a:ext cx="4145280" cy="6076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Encode Sans Normal"/>
              </a:rPr>
              <a:t>1.024B</a:t>
            </a:r>
          </a:p>
        </p:txBody>
      </p:sp>
      <p:sp>
        <p:nvSpPr>
          <p:cNvPr id="25" name="GridStat3_Label"/>
          <p:cNvSpPr txBox="1">
            <a:spLocks/>
          </p:cNvSpPr>
          <p:nvPr/>
        </p:nvSpPr>
        <p:spPr>
          <a:xfrm>
            <a:off x="38026848" y="18685874"/>
            <a:ext cx="4047744" cy="2914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10" b="1">
                <a:solidFill>
                  <a:srgbClr val="E8D3A2"/>
                </a:solidFill>
                <a:latin typeface="Open Sans"/>
              </a:rPr>
              <a:t>update tokens in a full budget</a:t>
            </a:r>
          </a:p>
        </p:txBody>
      </p:sp>
      <p:sp>
        <p:nvSpPr>
          <p:cNvPr id="26" name="GridPipeline_Frame"/>
          <p:cNvSpPr>
            <a:spLocks/>
          </p:cNvSpPr>
          <p:nvPr/>
        </p:nvSpPr>
        <p:spPr>
          <a:xfrm>
            <a:off x="1524000" y="20958048"/>
            <a:ext cx="13142976" cy="103555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GridPipeline_Label"/>
          <p:cNvSpPr txBox="1">
            <a:spLocks/>
          </p:cNvSpPr>
          <p:nvPr/>
        </p:nvSpPr>
        <p:spPr>
          <a:xfrm>
            <a:off x="1792224" y="21122639"/>
            <a:ext cx="12606527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1 · SPLIT BY COST</a:t>
            </a:r>
          </a:p>
        </p:txBody>
      </p:sp>
      <p:sp>
        <p:nvSpPr>
          <p:cNvPr id="28" name="GridInterface_Frame"/>
          <p:cNvSpPr>
            <a:spLocks/>
          </p:cNvSpPr>
          <p:nvPr/>
        </p:nvSpPr>
        <p:spPr>
          <a:xfrm>
            <a:off x="15179041" y="20958048"/>
            <a:ext cx="13142976" cy="103555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GridInterface_Label"/>
          <p:cNvSpPr txBox="1">
            <a:spLocks/>
          </p:cNvSpPr>
          <p:nvPr/>
        </p:nvSpPr>
        <p:spPr>
          <a:xfrm>
            <a:off x="15447263" y="21122639"/>
            <a:ext cx="12606527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2 · HIDE COMPLEXITY</a:t>
            </a:r>
          </a:p>
        </p:txBody>
      </p:sp>
      <p:sp>
        <p:nvSpPr>
          <p:cNvPr id="30" name="GridSeeds_Frame"/>
          <p:cNvSpPr>
            <a:spLocks/>
          </p:cNvSpPr>
          <p:nvPr/>
        </p:nvSpPr>
        <p:spPr>
          <a:xfrm>
            <a:off x="28834082" y="20958048"/>
            <a:ext cx="13533120" cy="103555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GridSeeds_Label"/>
          <p:cNvSpPr txBox="1">
            <a:spLocks/>
          </p:cNvSpPr>
          <p:nvPr/>
        </p:nvSpPr>
        <p:spPr>
          <a:xfrm>
            <a:off x="29102304" y="21122639"/>
            <a:ext cx="12996673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3 · LIMIT THE CLAIM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1524000" y="32040578"/>
            <a:ext cx="408432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ooter_Sources"/>
          <p:cNvSpPr txBox="1">
            <a:spLocks/>
          </p:cNvSpPr>
          <p:nvPr/>
        </p:nvSpPr>
        <p:spPr>
          <a:xfrm>
            <a:off x="1524000" y="32177735"/>
            <a:ext cx="37795200" cy="2451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10">
                <a:solidFill>
                  <a:srgbClr val="5E5A66"/>
                </a:solidFill>
                <a:latin typeface="Open Sans"/>
              </a:rPr>
              <a:t>Source: reports/09-the-poster.md and reports/12-poster-build-sheet-v2.md · Counts and figures regenerate from committed runs/ records · 12 Aug 2026</a:t>
            </a:r>
          </a:p>
        </p:txBody>
      </p:sp>
      <p:sp>
        <p:nvSpPr>
          <p:cNvPr id="34" name="Footer_Tag"/>
          <p:cNvSpPr txBox="1">
            <a:spLocks/>
          </p:cNvSpPr>
          <p:nvPr/>
        </p:nvSpPr>
        <p:spPr>
          <a:xfrm>
            <a:off x="39258239" y="32177734"/>
            <a:ext cx="3108960" cy="2522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70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36" name="Embedded_01_GridSpeed" descr="reports\figures\14-where-the-speedup-came-from.svg">
            <a:extLst>
              <a:ext uri="{FF2B5EF4-FFF2-40B4-BE49-F238E27FC236}">
                <a16:creationId xmlns:a16="http://schemas.microsoft.com/office/drawing/2014/main" id="{69C185FC-75F4-97FA-47E8-5F0C03C8168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2349" y="9267444"/>
            <a:ext cx="14429701" cy="10241280"/>
          </a:xfrm>
          <a:prstGeom prst="rect">
            <a:avLst/>
          </a:prstGeom>
        </p:spPr>
      </p:pic>
      <p:pic>
        <p:nvPicPr>
          <p:cNvPr id="38" name="Embedded_02_GridPipeline" descr="reports\figures\15-what-a-run-is-made-of.svg">
            <a:extLst>
              <a:ext uri="{FF2B5EF4-FFF2-40B4-BE49-F238E27FC236}">
                <a16:creationId xmlns:a16="http://schemas.microsoft.com/office/drawing/2014/main" id="{2F7B1A93-D6E2-394C-4AF0-5DA6419F82A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6880" y="22828024"/>
            <a:ext cx="12777216" cy="7191704"/>
          </a:xfrm>
          <a:prstGeom prst="rect">
            <a:avLst/>
          </a:prstGeom>
        </p:spPr>
      </p:pic>
      <p:pic>
        <p:nvPicPr>
          <p:cNvPr id="40" name="Embedded_03_GridInterface" descr="reports\figures\19-the-interface.svg">
            <a:extLst>
              <a:ext uri="{FF2B5EF4-FFF2-40B4-BE49-F238E27FC236}">
                <a16:creationId xmlns:a16="http://schemas.microsoft.com/office/drawing/2014/main" id="{E35E0856-0F9D-BDFF-B334-D886E18370E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1920" y="22720790"/>
            <a:ext cx="12777216" cy="7406168"/>
          </a:xfrm>
          <a:prstGeom prst="rect">
            <a:avLst/>
          </a:prstGeom>
        </p:spPr>
      </p:pic>
      <p:pic>
        <p:nvPicPr>
          <p:cNvPr id="42" name="Embedded_04_GridSeeds" descr="reports\figures\13-how-many-seeds.svg">
            <a:extLst>
              <a:ext uri="{FF2B5EF4-FFF2-40B4-BE49-F238E27FC236}">
                <a16:creationId xmlns:a16="http://schemas.microsoft.com/office/drawing/2014/main" id="{359E50CF-0D84-76EA-0975-A7E11419685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44085" y="22260305"/>
            <a:ext cx="12313109" cy="83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8551</TotalTime>
  <Words>209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33</cp:revision>
  <dcterms:created xsi:type="dcterms:W3CDTF">2018-02-07T04:27:03Z</dcterms:created>
  <dcterms:modified xsi:type="dcterms:W3CDTF">2026-08-13T04:54:30Z</dcterms:modified>
</cp:coreProperties>
</file>