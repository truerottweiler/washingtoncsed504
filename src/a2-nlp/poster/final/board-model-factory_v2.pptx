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handoutMasterIdLst>
    <p:handoutMasterId r:id="rId3"/>
  </p:handoutMasterIdLst>
  <p:sldIdLst>
    <p:sldId id="256" r:id="rId2"/>
  </p:sldIdLst>
  <p:sldSz cx="21945600" cy="32918400"/>
  <p:notesSz cx="6858000" cy="9144000"/>
  <p:embeddedFontLst>
    <p:embeddedFont>
      <p:font typeface="Encode Sans Normal" panose="02000000000000000000" pitchFamily="2" charset="0"/>
      <p:regular r:id="rId4"/>
      <p:bold r:id="rId5"/>
    </p:embeddedFont>
    <p:embeddedFont>
      <p:font typeface="Encode Sans Normal Black" panose="02000000000000000000" pitchFamily="2" charset="0"/>
      <p:bold r:id="rId6"/>
    </p:embeddedFont>
    <p:embeddedFont>
      <p:font typeface="Open Sans" panose="020B0606030504020204" pitchFamily="34" charset="0"/>
      <p:regular r:id="rId7"/>
      <p:bold r:id="rId8"/>
      <p:italic r:id="rId9"/>
      <p:boldItalic r:id="rId10"/>
    </p:embeddedFont>
    <p:embeddedFont>
      <p:font typeface="Uni Sans Book" panose="00000500000000000000" pitchFamily="50" charset="0"/>
      <p:regular r:id="rId11"/>
    </p:embeddedFont>
    <p:embeddedFont>
      <p:font typeface="Uni Sans Regular" panose="00000500000000000000" pitchFamily="50" charset="0"/>
      <p:regular r:id="rId12"/>
    </p:embeddedFont>
  </p:embeddedFontLst>
  <p:defaultTextStyle>
    <a:defPPr>
      <a:defRPr lang="en-US"/>
    </a:defPPr>
    <a:lvl1pPr marL="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1pPr>
    <a:lvl2pPr marL="131673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2pPr>
    <a:lvl3pPr marL="263347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3pPr>
    <a:lvl4pPr marL="395020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4pPr>
    <a:lvl5pPr marL="5266944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5pPr>
    <a:lvl6pPr marL="658368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6pPr>
    <a:lvl7pPr marL="790041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7pPr>
    <a:lvl8pPr marL="921715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8pPr>
    <a:lvl9pPr marL="1053388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4" orient="horz" pos="19872" userDrawn="1">
          <p15:clr>
            <a:srgbClr val="A4A3A4"/>
          </p15:clr>
        </p15:guide>
        <p15:guide id="5" pos="69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0"/>
    <p:restoredTop sz="94682"/>
  </p:normalViewPr>
  <p:slideViewPr>
    <p:cSldViewPr snapToGrid="0" snapToObjects="1" showGuides="1">
      <p:cViewPr varScale="1">
        <p:scale>
          <a:sx n="22" d="100"/>
          <a:sy n="22" d="100"/>
        </p:scale>
        <p:origin x="3150" y="84"/>
      </p:cViewPr>
      <p:guideLst>
        <p:guide orient="horz" pos="864"/>
        <p:guide orient="horz" pos="19872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84" d="100"/>
          <a:sy n="84" d="100"/>
        </p:scale>
        <p:origin x="29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handoutMaster" Target="handoutMasters/handout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061D43-69EA-485A-B31D-06F488B000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2262A-DD58-D216-4E05-6B7D2CEE23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526E5-6ED1-40E7-8DB0-EC2A4532908B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98623-D829-FCE0-AD10-5B31A656C4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DA44E-BAC8-4388-FF0D-5D5BE9FE9D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035F1-8563-4812-8253-F0BF4F751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8326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2FB64-E6C6-7E42-3192-F4C44286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1945600" cy="7772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White University of Washington wordmark">
            <a:extLst>
              <a:ext uri="{FF2B5EF4-FFF2-40B4-BE49-F238E27FC236}">
                <a16:creationId xmlns:a16="http://schemas.microsoft.com/office/drawing/2014/main" id="{06BF856D-318F-5648-4D5F-55F36A7B7B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328" y="1382304"/>
            <a:ext cx="5720372" cy="377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D3E322-5717-F221-A293-7F2AC838D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6680" y="1039307"/>
            <a:ext cx="2788920" cy="187756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1371600" y="2137204"/>
            <a:ext cx="16957964" cy="2926880"/>
          </a:xfrm>
          <a:prstGeom prst="rect">
            <a:avLst/>
          </a:prstGeom>
        </p:spPr>
        <p:txBody>
          <a:bodyPr lIns="0" rIns="0" anchor="b"/>
          <a:lstStyle>
            <a:lvl1pPr algn="l">
              <a:defRPr sz="115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72B54C-8107-8BC2-0756-50E483CE2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851910"/>
            <a:ext cx="3877056" cy="95097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1EE617-D376-BF7B-7ECC-3D715A8C22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04939" y="6318250"/>
            <a:ext cx="19169062" cy="84455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First Name Last Name, First Name Last Name, First Name Last Name, First Name Last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FC49-2EC2-3957-B5AE-5755106E19B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04938" y="8460178"/>
            <a:ext cx="9072562" cy="1655584"/>
          </a:xfrm>
        </p:spPr>
        <p:txBody>
          <a:bodyPr>
            <a:noAutofit/>
          </a:bodyPr>
          <a:lstStyle>
            <a:lvl1pPr marL="0" indent="0">
              <a:buNone/>
              <a:defRPr sz="33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8B5BE3E-B19A-5213-5202-23C4E727AED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04938" y="10132477"/>
            <a:ext cx="9072562" cy="336460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1081191-5373-5749-7DC4-98783C3690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68100" y="8459788"/>
            <a:ext cx="9105900" cy="441801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0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936DFD-DC62-63FC-9D7D-E54AA02C41C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1468100" y="13047663"/>
            <a:ext cx="9105901" cy="449262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B1FE93-715E-430A-7072-93B3CE554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04938" y="14395938"/>
            <a:ext cx="5795962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758B34E-538D-6627-60B1-CC449705A6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371600" y="15513050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1D9CBC8-2414-D7F4-31D8-8114113A0DC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371601" y="16656462"/>
            <a:ext cx="5809825" cy="4127087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3CC80B-14B9-7CF6-BDCF-FCBE7E5D16F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391075" y="21185188"/>
            <a:ext cx="5790351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8898CA4-E658-78A5-E4A9-012B86A5304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 rot="16200000">
            <a:off x="-415358" y="23546936"/>
            <a:ext cx="3921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E0B498D-6AE9-24F6-A58D-BF9BD536CA0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371371" y="25684163"/>
            <a:ext cx="5838631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FB87409A-A659-182A-B653-40FE12B63C8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1725614" y="21763038"/>
            <a:ext cx="5484388" cy="392112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7" name="Picture Placeholder 18">
            <a:extLst>
              <a:ext uri="{FF2B5EF4-FFF2-40B4-BE49-F238E27FC236}">
                <a16:creationId xmlns:a16="http://schemas.microsoft.com/office/drawing/2014/main" id="{A9ED605D-014B-6361-4B25-AF591EE487B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371600" y="26722750"/>
            <a:ext cx="5809826" cy="4309699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32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248DD8AC-F30D-FA2A-2670-0A4D4BFA641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371601" y="31150874"/>
            <a:ext cx="5829299" cy="449262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835EF0-C064-2458-379F-841F884932A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01000" y="14395939"/>
            <a:ext cx="5943600" cy="1263161"/>
          </a:xfrm>
          <a:solidFill>
            <a:schemeClr val="tx2"/>
          </a:solidFill>
        </p:spPr>
        <p:txBody>
          <a:bodyPr lIns="548640" rIns="548640" anchor="b" anchorCtr="0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A563F7C-80F5-7A45-8244-E505A80C617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5655" y="15659100"/>
            <a:ext cx="5928945" cy="5688013"/>
          </a:xfrm>
          <a:solidFill>
            <a:schemeClr val="tx2"/>
          </a:solidFill>
        </p:spPr>
        <p:txBody>
          <a:bodyPr lIns="548640" tIns="182880" rIns="548640">
            <a:normAutofit/>
          </a:bodyPr>
          <a:lstStyle>
            <a:lvl1pPr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F1384E64-71EB-804E-B091-737F5DA7AF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9575" y="22130238"/>
            <a:ext cx="5886431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945E6360-CBB8-C8AC-DE89-775B4175896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01000" y="23149535"/>
            <a:ext cx="59436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10F387-A5AC-E019-556E-3B4FF34DE43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001001" y="24292947"/>
            <a:ext cx="5991647" cy="2730067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3B4E6C2F-255C-BD4A-9AB9-0BEEAACD373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001000" y="27370450"/>
            <a:ext cx="5943600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E9A8CD13-2EE6-94A8-AD2C-E35E3DEB723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005991" y="31275274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9" name="Chart Placeholder 56">
            <a:extLst>
              <a:ext uri="{FF2B5EF4-FFF2-40B4-BE49-F238E27FC236}">
                <a16:creationId xmlns:a16="http://schemas.microsoft.com/office/drawing/2014/main" id="{D5B5394A-2F22-FDE5-236E-71E183E88E0D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8029556" y="27954649"/>
            <a:ext cx="2943208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9A791779-1151-EF6C-A588-547FB9E5F08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968689" y="31275274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0" name="Chart Placeholder 56">
            <a:extLst>
              <a:ext uri="{FF2B5EF4-FFF2-40B4-BE49-F238E27FC236}">
                <a16:creationId xmlns:a16="http://schemas.microsoft.com/office/drawing/2014/main" id="{7494449F-9756-E9E3-C51C-021C113FAE32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0989469" y="27954649"/>
            <a:ext cx="2926502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6B866D6D-0E0B-BC55-3CAA-89FFFA558E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744700" y="14395938"/>
            <a:ext cx="5829300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792949F3-A85B-9075-3379-5507A48829D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750254" y="15513050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F1E2B9C-4C5D-F48A-7C53-C6465EDEE89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4750255" y="16656462"/>
            <a:ext cx="5809825" cy="4127087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780011B-BEBD-6A88-2851-E87C254E14D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741153" y="21336792"/>
            <a:ext cx="5809825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60399315-C974-7843-A546-3BC29EA169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16200000">
            <a:off x="12957255" y="23665177"/>
            <a:ext cx="3921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4369CC56-84FF-A9B3-DC20-281116398C8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4772578" y="25802404"/>
            <a:ext cx="5838631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8" name="Chart Placeholder 56">
            <a:extLst>
              <a:ext uri="{FF2B5EF4-FFF2-40B4-BE49-F238E27FC236}">
                <a16:creationId xmlns:a16="http://schemas.microsoft.com/office/drawing/2014/main" id="{314873A6-E346-BBD8-198B-75CF072C9B2B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15095167" y="21924348"/>
            <a:ext cx="5478834" cy="387805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03736E28-27F3-A378-90E6-702C704BB4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69747" y="26760851"/>
            <a:ext cx="5804253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33A5D178-74A1-4DE2-1B8E-215EEED10B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4750254" y="27818529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076EE7ED-70B2-6630-609F-2FE0086FB1F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4750255" y="28961941"/>
            <a:ext cx="5809825" cy="2667345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o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FCE31BD-1261-01C7-4870-B6860CC81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1945600" cy="662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4B055B-085B-76FB-DE60-7304A9BF5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608277" y="7461504"/>
            <a:ext cx="0" cy="2408529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5DD99A-053C-87B2-55AC-3DA6C3980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4342876" y="7498080"/>
            <a:ext cx="0" cy="24048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White Block W and University of Washington wordmark">
            <a:extLst>
              <a:ext uri="{FF2B5EF4-FFF2-40B4-BE49-F238E27FC236}">
                <a16:creationId xmlns:a16="http://schemas.microsoft.com/office/drawing/2014/main" id="{A228B37B-943D-418F-7FEB-547899E5FF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92" y="1393112"/>
            <a:ext cx="9151908" cy="718744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186BECF-CA9C-0683-E48A-FD679FF854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1600" y="2410690"/>
            <a:ext cx="18786764" cy="2487137"/>
          </a:xfrm>
          <a:prstGeom prst="rect">
            <a:avLst/>
          </a:prstGeom>
        </p:spPr>
        <p:txBody>
          <a:bodyPr lIns="0" rIns="0" anchor="b"/>
          <a:lstStyle>
            <a:lvl1pPr algn="l">
              <a:defRPr sz="115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10B298-2CC4-0C2E-86C9-441EA8DBD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669030"/>
            <a:ext cx="3877056" cy="950976"/>
          </a:xfrm>
          <a:prstGeom prst="rect">
            <a:avLst/>
          </a:prstGeom>
        </p:spPr>
      </p:pic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1D5D6CC3-BEED-BD27-6C46-B0663A0BA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04938" y="7619062"/>
            <a:ext cx="5795962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DBAB74E-5E42-7923-CC94-0F34EC90999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04938" y="8792490"/>
            <a:ext cx="5795962" cy="1655584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 DONEC VULPUTATE CONDIMENTUM EGESTAS. 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F7007CD-9973-B2FC-A5CB-B8CE9574C6F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04938" y="10426689"/>
            <a:ext cx="5795961" cy="4546611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nisi. Duis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molestie</a:t>
            </a:r>
            <a:r>
              <a:rPr lang="en-US" dirty="0"/>
              <a:t> id dictum sit </a:t>
            </a:r>
            <a:r>
              <a:rPr lang="en-US" dirty="0" err="1"/>
              <a:t>amet</a:t>
            </a:r>
            <a:r>
              <a:rPr lang="en-US" dirty="0"/>
              <a:t>, convallis </a:t>
            </a:r>
            <a:r>
              <a:rPr lang="en-US" dirty="0" err="1"/>
              <a:t>eget</a:t>
            </a:r>
            <a:r>
              <a:rPr lang="en-US" dirty="0"/>
              <a:t> est. Sed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Nam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ac </a:t>
            </a:r>
            <a:r>
              <a:rPr lang="en-US" dirty="0" err="1"/>
              <a:t>neque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,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lacinia, lorem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dolor, vitae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et gravida sed, pulvinar et lorem. Sed </a:t>
            </a:r>
            <a:r>
              <a:rPr lang="en-US" dirty="0" err="1"/>
              <a:t>eleifend</a:t>
            </a:r>
            <a:r>
              <a:rPr lang="en-US" dirty="0"/>
              <a:t> eros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et gravida sed, pulvinar et lorem. Sed </a:t>
            </a:r>
            <a:r>
              <a:rPr lang="en-US" dirty="0" err="1"/>
              <a:t>eleifend</a:t>
            </a:r>
            <a:r>
              <a:rPr lang="en-US" dirty="0"/>
              <a:t> eros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sp>
        <p:nvSpPr>
          <p:cNvPr id="24" name="Text Placeholder 38">
            <a:extLst>
              <a:ext uri="{FF2B5EF4-FFF2-40B4-BE49-F238E27FC236}">
                <a16:creationId xmlns:a16="http://schemas.microsoft.com/office/drawing/2014/main" id="{A98C435C-8908-B97A-76D4-D6DB29984D7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371601" y="15737995"/>
            <a:ext cx="5790351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79FB6562-08B0-6BB9-C44F-C0F30B6BEA8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rot="16200000">
            <a:off x="-415358" y="18134499"/>
            <a:ext cx="3921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C4CE3BA-1EE8-D262-6E5E-4652CE673C2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371371" y="20271726"/>
            <a:ext cx="5838631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27" name="Chart Placeholder 56">
            <a:extLst>
              <a:ext uri="{FF2B5EF4-FFF2-40B4-BE49-F238E27FC236}">
                <a16:creationId xmlns:a16="http://schemas.microsoft.com/office/drawing/2014/main" id="{BADB8C7C-0E23-3926-3D2C-758688F5DEA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1725614" y="16350601"/>
            <a:ext cx="5484388" cy="392112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7D1E5C0D-2823-2439-0CE6-DBCBE0A4CA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371601" y="21142325"/>
            <a:ext cx="5829300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9A0924CD-9C6B-E18B-588B-3230C7F50CF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380699" y="22255811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32E876E-E757-F00B-D4CF-CB152F48FEE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380700" y="23399224"/>
            <a:ext cx="5809825" cy="2675262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3" name="Picture Placeholder 18">
            <a:extLst>
              <a:ext uri="{FF2B5EF4-FFF2-40B4-BE49-F238E27FC236}">
                <a16:creationId xmlns:a16="http://schemas.microsoft.com/office/drawing/2014/main" id="{A759DEA8-363A-5788-13D6-BAA6DEF4EDA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371600" y="26722750"/>
            <a:ext cx="5809826" cy="4309699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32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7595F79E-4155-D64E-A866-A2B0CF0264C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371601" y="31150874"/>
            <a:ext cx="5829299" cy="449262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72DCC1DA-F0D7-6242-4551-C5086F5BEF5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001000" y="7444765"/>
            <a:ext cx="5943600" cy="1263161"/>
          </a:xfrm>
          <a:solidFill>
            <a:schemeClr val="tx2"/>
          </a:solidFill>
        </p:spPr>
        <p:txBody>
          <a:bodyPr lIns="548640" rIns="548640" anchor="b" anchorCtr="0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48" name="Text Placeholder 23">
            <a:extLst>
              <a:ext uri="{FF2B5EF4-FFF2-40B4-BE49-F238E27FC236}">
                <a16:creationId xmlns:a16="http://schemas.microsoft.com/office/drawing/2014/main" id="{A8065ACB-5149-0060-A91F-9F0DB375A9E4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015655" y="8707926"/>
            <a:ext cx="5928945" cy="6886375"/>
          </a:xfrm>
          <a:solidFill>
            <a:schemeClr val="tx2"/>
          </a:solidFill>
        </p:spPr>
        <p:txBody>
          <a:bodyPr lIns="548640" tIns="182880" rIns="548640">
            <a:normAutofit/>
          </a:bodyPr>
          <a:lstStyle>
            <a:lvl1pPr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E45B7AE5-B4D9-43F5-4F01-11483284B84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015654" y="16170275"/>
            <a:ext cx="5928945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5AC8CF6-F7F8-FE46-244E-102985BEA1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06555" y="17324098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A1E8A01-A0BF-3968-1D37-C84A0317454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006556" y="18467510"/>
            <a:ext cx="5809825" cy="456394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2AD14CD3-CC8A-ED17-DE0A-8BC17A4BB6E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026029" y="23807738"/>
            <a:ext cx="5899094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35" name="Text Placeholder 54">
            <a:extLst>
              <a:ext uri="{FF2B5EF4-FFF2-40B4-BE49-F238E27FC236}">
                <a16:creationId xmlns:a16="http://schemas.microsoft.com/office/drawing/2014/main" id="{57858A04-198D-38A3-311C-D02DAC1AF62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005991" y="27739150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3" name="Chart Placeholder 56">
            <a:extLst>
              <a:ext uri="{FF2B5EF4-FFF2-40B4-BE49-F238E27FC236}">
                <a16:creationId xmlns:a16="http://schemas.microsoft.com/office/drawing/2014/main" id="{B5195A7A-BFD3-0FB4-A879-8C93AC126732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8029556" y="24418525"/>
            <a:ext cx="2943208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36" name="Text Placeholder 54">
            <a:extLst>
              <a:ext uri="{FF2B5EF4-FFF2-40B4-BE49-F238E27FC236}">
                <a16:creationId xmlns:a16="http://schemas.microsoft.com/office/drawing/2014/main" id="{C53D7DD7-8094-D8F1-C48C-9753AB2EBB3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968689" y="27739150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4" name="Chart Placeholder 56">
            <a:extLst>
              <a:ext uri="{FF2B5EF4-FFF2-40B4-BE49-F238E27FC236}">
                <a16:creationId xmlns:a16="http://schemas.microsoft.com/office/drawing/2014/main" id="{DDDA2AA0-06BB-5257-F736-3072D176A927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0989469" y="24418525"/>
            <a:ext cx="2926502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9" name="Text Placeholder 54">
            <a:extLst>
              <a:ext uri="{FF2B5EF4-FFF2-40B4-BE49-F238E27FC236}">
                <a16:creationId xmlns:a16="http://schemas.microsoft.com/office/drawing/2014/main" id="{81F69A9E-4C8E-A391-EB1C-E7C8FE9E9FFA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005991" y="31413787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7" name="Chart Placeholder 56">
            <a:extLst>
              <a:ext uri="{FF2B5EF4-FFF2-40B4-BE49-F238E27FC236}">
                <a16:creationId xmlns:a16="http://schemas.microsoft.com/office/drawing/2014/main" id="{585DD6A7-862A-F749-6118-1098A3E67C53}"/>
              </a:ext>
            </a:extLst>
          </p:cNvPr>
          <p:cNvSpPr>
            <a:spLocks noGrp="1"/>
          </p:cNvSpPr>
          <p:nvPr>
            <p:ph type="chart" sz="quarter" idx="69"/>
          </p:nvPr>
        </p:nvSpPr>
        <p:spPr>
          <a:xfrm>
            <a:off x="8029556" y="28093162"/>
            <a:ext cx="2943208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40" name="Text Placeholder 54">
            <a:extLst>
              <a:ext uri="{FF2B5EF4-FFF2-40B4-BE49-F238E27FC236}">
                <a16:creationId xmlns:a16="http://schemas.microsoft.com/office/drawing/2014/main" id="{45459B19-7D55-12D0-82F5-1899380FF2B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968689" y="31413787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8" name="Chart Placeholder 56">
            <a:extLst>
              <a:ext uri="{FF2B5EF4-FFF2-40B4-BE49-F238E27FC236}">
                <a16:creationId xmlns:a16="http://schemas.microsoft.com/office/drawing/2014/main" id="{52090A6A-FE82-5CC4-B526-1E4F4A059555}"/>
              </a:ext>
            </a:extLst>
          </p:cNvPr>
          <p:cNvSpPr>
            <a:spLocks noGrp="1"/>
          </p:cNvSpPr>
          <p:nvPr>
            <p:ph type="chart" sz="quarter" idx="70"/>
          </p:nvPr>
        </p:nvSpPr>
        <p:spPr>
          <a:xfrm>
            <a:off x="10989469" y="28093162"/>
            <a:ext cx="2926502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B5F39BFE-7880-4CFA-5B86-0E0BCF39ECC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44700" y="7619062"/>
            <a:ext cx="5829300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135003E1-BD0C-90E4-931B-8FF586C8B80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750254" y="8656348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316AAB3-86F7-D1E3-75AF-012259D3215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4750255" y="9799760"/>
            <a:ext cx="5809825" cy="4127087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92A34F02-72AE-2E84-74A6-A24280D3B88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4749830" y="14416088"/>
            <a:ext cx="5790351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687A1E32-F833-4A95-287B-35E2FC0B03F0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 rot="16200000">
            <a:off x="12976731" y="16776248"/>
            <a:ext cx="3921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4148A62B-5C7A-45E1-CD43-1745481A9A3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4763460" y="18913475"/>
            <a:ext cx="5838631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0" name="Chart Placeholder 56">
            <a:extLst>
              <a:ext uri="{FF2B5EF4-FFF2-40B4-BE49-F238E27FC236}">
                <a16:creationId xmlns:a16="http://schemas.microsoft.com/office/drawing/2014/main" id="{8EAAA307-E66D-6D2A-72EC-9C487AE6FD1D}"/>
              </a:ext>
            </a:extLst>
          </p:cNvPr>
          <p:cNvSpPr>
            <a:spLocks noGrp="1"/>
          </p:cNvSpPr>
          <p:nvPr>
            <p:ph type="chart" sz="quarter" idx="64"/>
          </p:nvPr>
        </p:nvSpPr>
        <p:spPr>
          <a:xfrm>
            <a:off x="15117703" y="14992350"/>
            <a:ext cx="5484388" cy="392112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45" name="Picture Placeholder 18">
            <a:extLst>
              <a:ext uri="{FF2B5EF4-FFF2-40B4-BE49-F238E27FC236}">
                <a16:creationId xmlns:a16="http://schemas.microsoft.com/office/drawing/2014/main" id="{64B201F0-35F2-A5C8-8AA9-511E04229139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4744700" y="19978978"/>
            <a:ext cx="5809826" cy="5444471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32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DCA07C6B-6406-FE3E-BBEC-8805A6B1233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4744701" y="25541874"/>
            <a:ext cx="5829299" cy="449262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81535374-FDCA-80A8-D1B0-E84EB9E639F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4744700" y="26781125"/>
            <a:ext cx="5829300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D2466F7-BF85-266C-634A-BB4ADE11D16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4730780" y="27856511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2D920A2F-995B-EE12-F87A-9D3BA66A908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730781" y="28999924"/>
            <a:ext cx="5809825" cy="2675262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</p:spTree>
    <p:extLst>
      <p:ext uri="{BB962C8B-B14F-4D97-AF65-F5344CB8AC3E}">
        <p14:creationId xmlns:p14="http://schemas.microsoft.com/office/powerpoint/2010/main" val="4239815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984EF-F468-39C7-FF26-3A99E120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125" y="1752600"/>
            <a:ext cx="18929350" cy="636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05987-E73C-73D1-D99D-931213988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8125" y="8763000"/>
            <a:ext cx="18929350" cy="20886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910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15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368" userDrawn="1">
          <p15:clr>
            <a:srgbClr val="F26B43"/>
          </p15:clr>
        </p15:guide>
        <p15:guide id="2" pos="864" userDrawn="1">
          <p15:clr>
            <a:srgbClr val="F26B43"/>
          </p15:clr>
        </p15:guide>
        <p15:guide id="3" pos="12960" userDrawn="1">
          <p15:clr>
            <a:srgbClr val="F26B43"/>
          </p15:clr>
        </p15:guide>
        <p15:guide id="4" pos="4536" userDrawn="1">
          <p15:clr>
            <a:srgbClr val="F26B43"/>
          </p15:clr>
        </p15:guide>
        <p15:guide id="5" pos="5040" userDrawn="1">
          <p15:clr>
            <a:srgbClr val="F26B43"/>
          </p15:clr>
        </p15:guide>
        <p15:guide id="6" pos="8784" userDrawn="1">
          <p15:clr>
            <a:srgbClr val="F26B43"/>
          </p15:clr>
        </p15:guide>
        <p15:guide id="7" pos="9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LabelCover"/>
          <p:cNvSpPr/>
          <p:nvPr/>
        </p:nvSpPr>
        <p:spPr>
          <a:xfrm>
            <a:off x="1298448" y="1005840"/>
            <a:ext cx="3977639" cy="27432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ader_Title"/>
          <p:cNvSpPr txBox="1"/>
          <p:nvPr/>
        </p:nvSpPr>
        <p:spPr>
          <a:xfrm>
            <a:off x="1371600" y="1645920"/>
            <a:ext cx="17647920" cy="22860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200" b="1" i="0">
                <a:solidFill>
                  <a:srgbClr val="FFFFFF"/>
                </a:solidFill>
                <a:latin typeface="Encode Sans Normal Black"/>
              </a:rPr>
              <a:t>CSED 505: BUILDING A MODEL FACTORY</a:t>
            </a:r>
          </a:p>
        </p:txBody>
      </p:sp>
      <p:sp>
        <p:nvSpPr>
          <p:cNvPr id="4" name="Header_Subtitle"/>
          <p:cNvSpPr txBox="1"/>
          <p:nvPr/>
        </p:nvSpPr>
        <p:spPr>
          <a:xfrm>
            <a:off x="1399032" y="4069080"/>
            <a:ext cx="1737360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Uni Sans Book"/>
              </a:rPr>
              <a:t>501 the statistics · 502 the mechanics · 503 the language stack · 504 scale — All four end when a model finishes training. None covers needing a hundred models and having to believe the differences between them.</a:t>
            </a:r>
          </a:p>
        </p:txBody>
      </p:sp>
      <p:sp>
        <p:nvSpPr>
          <p:cNvPr id="5" name="Header_Author"/>
          <p:cNvSpPr txBox="1"/>
          <p:nvPr/>
        </p:nvSpPr>
        <p:spPr>
          <a:xfrm>
            <a:off x="1399032" y="6510528"/>
            <a:ext cx="17373600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 i="0">
                <a:solidFill>
                  <a:srgbClr val="E8D3A2"/>
                </a:solidFill>
                <a:latin typeface="Uni Sans Book"/>
              </a:rPr>
              <a:t>Jeffrey Stall · Patrick Kwok · Leon Wan — CSED 504. This board is the machinery; the upper board is the experiment it served.</a:t>
            </a:r>
          </a:p>
        </p:txBody>
      </p:sp>
      <p:sp>
        <p:nvSpPr>
          <p:cNvPr id="6" name="Cell1_Heading"/>
          <p:cNvSpPr txBox="1"/>
          <p:nvPr/>
        </p:nvSpPr>
        <p:spPr>
          <a:xfrm>
            <a:off x="1371600" y="8001000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You do not need the workstation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71600" y="8933688"/>
            <a:ext cx="58064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ell1_Caption"/>
          <p:cNvSpPr txBox="1"/>
          <p:nvPr/>
        </p:nvSpPr>
        <p:spPr>
          <a:xfrm>
            <a:off x="1371600" y="12079224"/>
            <a:ext cx="580644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An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8 GB laptop GPU beats the free tier, even unplugged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 The two paid Colab tiers bill the same —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$111 for 7 days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against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$112 for 30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so the faster tier buys time, not money. Electricity for all 148 GPU-hours was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$7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; the workstation that ran them,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$24,000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</a:t>
            </a:r>
          </a:p>
        </p:txBody>
      </p:sp>
      <p:sp>
        <p:nvSpPr>
          <p:cNvPr id="9" name="Cell8_Heading"/>
          <p:cNvSpPr txBox="1"/>
          <p:nvPr/>
        </p:nvSpPr>
        <p:spPr>
          <a:xfrm>
            <a:off x="8001000" y="8001000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When memory is a wall, and when it is only a speed limit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01000" y="8933688"/>
            <a:ext cx="58064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ell8_List"/>
          <p:cNvSpPr txBox="1"/>
          <p:nvPr/>
        </p:nvSpPr>
        <p:spPr>
          <a:xfrm>
            <a:off x="8001000" y="9134856"/>
            <a:ext cx="5806440" cy="4434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What has to fit is the model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12–16 bytes a parameter. Our 98M: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1.6 GB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 A 7B: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84–112 GB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no consumer card.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Everything above the floor is batch, and batch is optional.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Accumulation runs a big step as smaller passes — same update,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within 2%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So an 8 GB laptop trains the step a 96 GB card trains.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A 10 GB run folds into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6.1 GB at 28,027 tok/s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Nobody on the chart beside this needed 80 GB.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96, 80, 24, 16, 8 GB — all ran the same step. The A100 sells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speed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not room.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And Windows does not warn you.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An oversized batch spills to system RAM: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28,027 → 5,075 tok/s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no error.</a:t>
            </a:r>
          </a:p>
        </p:txBody>
      </p:sp>
      <p:sp>
        <p:nvSpPr>
          <p:cNvPr id="12" name="Cell3_Box"/>
          <p:cNvSpPr/>
          <p:nvPr/>
        </p:nvSpPr>
        <p:spPr>
          <a:xfrm>
            <a:off x="14749272" y="8001000"/>
            <a:ext cx="5806440" cy="562356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ell3_Heading"/>
          <p:cNvSpPr txBox="1"/>
          <p:nvPr/>
        </p:nvSpPr>
        <p:spPr>
          <a:xfrm>
            <a:off x="15023592" y="8220456"/>
            <a:ext cx="52578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E8D3A2"/>
                </a:solidFill>
                <a:latin typeface="Encode Sans Normal"/>
              </a:rPr>
              <a:t>The factory, in numbers</a:t>
            </a:r>
          </a:p>
        </p:txBody>
      </p:sp>
      <p:sp>
        <p:nvSpPr>
          <p:cNvPr id="14" name="Cell3_Value1"/>
          <p:cNvSpPr txBox="1"/>
          <p:nvPr/>
        </p:nvSpPr>
        <p:spPr>
          <a:xfrm>
            <a:off x="15005304" y="8897112"/>
            <a:ext cx="1572768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E8D3A2"/>
                </a:solidFill>
                <a:latin typeface="Encode Sans Normal"/>
              </a:rPr>
              <a:t>197</a:t>
            </a:r>
          </a:p>
        </p:txBody>
      </p:sp>
      <p:sp>
        <p:nvSpPr>
          <p:cNvPr id="15" name="Cell3_Label1"/>
          <p:cNvSpPr txBox="1"/>
          <p:nvPr/>
        </p:nvSpPr>
        <p:spPr>
          <a:xfrm>
            <a:off x="16706088" y="8897112"/>
            <a:ext cx="3575303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Open Sans"/>
              </a:rPr>
              <a:t>pretraining runs, every one from scratch</a:t>
            </a:r>
          </a:p>
        </p:txBody>
      </p:sp>
      <p:sp>
        <p:nvSpPr>
          <p:cNvPr id="16" name="Cell3_Value2"/>
          <p:cNvSpPr txBox="1"/>
          <p:nvPr/>
        </p:nvSpPr>
        <p:spPr>
          <a:xfrm>
            <a:off x="15005304" y="9648444"/>
            <a:ext cx="1572768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E8D3A2"/>
                </a:solidFill>
                <a:latin typeface="Encode Sans Normal"/>
              </a:rPr>
              <a:t>892</a:t>
            </a:r>
          </a:p>
        </p:txBody>
      </p:sp>
      <p:sp>
        <p:nvSpPr>
          <p:cNvPr id="17" name="Cell3_Label2"/>
          <p:cNvSpPr txBox="1"/>
          <p:nvPr/>
        </p:nvSpPr>
        <p:spPr>
          <a:xfrm>
            <a:off x="16706088" y="9648444"/>
            <a:ext cx="3575303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Open Sans"/>
              </a:rPr>
              <a:t>fine-tuning runs on top of them, across two tasks</a:t>
            </a:r>
          </a:p>
        </p:txBody>
      </p:sp>
      <p:sp>
        <p:nvSpPr>
          <p:cNvPr id="18" name="Cell3_Value3"/>
          <p:cNvSpPr txBox="1"/>
          <p:nvPr/>
        </p:nvSpPr>
        <p:spPr>
          <a:xfrm>
            <a:off x="15005304" y="10399776"/>
            <a:ext cx="1572768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E8D3A2"/>
                </a:solidFill>
                <a:latin typeface="Encode Sans Normal"/>
              </a:rPr>
              <a:t>17</a:t>
            </a:r>
          </a:p>
        </p:txBody>
      </p:sp>
      <p:sp>
        <p:nvSpPr>
          <p:cNvPr id="19" name="Cell3_Label3"/>
          <p:cNvSpPr txBox="1"/>
          <p:nvPr/>
        </p:nvSpPr>
        <p:spPr>
          <a:xfrm>
            <a:off x="16706088" y="10399776"/>
            <a:ext cx="3575303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Open Sans"/>
              </a:rPr>
              <a:t>languages measured, 12 of them pretrained from scratch</a:t>
            </a:r>
          </a:p>
        </p:txBody>
      </p:sp>
      <p:sp>
        <p:nvSpPr>
          <p:cNvPr id="20" name="Cell3_Value4"/>
          <p:cNvSpPr txBox="1"/>
          <p:nvPr/>
        </p:nvSpPr>
        <p:spPr>
          <a:xfrm>
            <a:off x="15005304" y="11151108"/>
            <a:ext cx="1572768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E8D3A2"/>
                </a:solidFill>
                <a:latin typeface="Encode Sans Normal"/>
              </a:rPr>
              <a:t>148</a:t>
            </a:r>
          </a:p>
        </p:txBody>
      </p:sp>
      <p:sp>
        <p:nvSpPr>
          <p:cNvPr id="21" name="Cell3_Label4"/>
          <p:cNvSpPr txBox="1"/>
          <p:nvPr/>
        </p:nvSpPr>
        <p:spPr>
          <a:xfrm>
            <a:off x="16706088" y="11151108"/>
            <a:ext cx="3575303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Open Sans"/>
              </a:rPr>
              <a:t>GPU-hours, two cards, 71 kWh at the wall</a:t>
            </a:r>
          </a:p>
        </p:txBody>
      </p:sp>
      <p:sp>
        <p:nvSpPr>
          <p:cNvPr id="22" name="Cell3_Value5"/>
          <p:cNvSpPr txBox="1"/>
          <p:nvPr/>
        </p:nvSpPr>
        <p:spPr>
          <a:xfrm>
            <a:off x="15005304" y="11902440"/>
            <a:ext cx="1572768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E8D3A2"/>
                </a:solidFill>
                <a:latin typeface="Encode Sans Normal"/>
              </a:rPr>
              <a:t>62,500</a:t>
            </a:r>
          </a:p>
        </p:txBody>
      </p:sp>
      <p:sp>
        <p:nvSpPr>
          <p:cNvPr id="23" name="Cell3_Label5"/>
          <p:cNvSpPr txBox="1"/>
          <p:nvPr/>
        </p:nvSpPr>
        <p:spPr>
          <a:xfrm>
            <a:off x="16706088" y="11902440"/>
            <a:ext cx="3575303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Open Sans"/>
              </a:rPr>
              <a:t>steps a run — 1.024B tokens of updates, the unit that makes two machines comparable</a:t>
            </a:r>
          </a:p>
        </p:txBody>
      </p:sp>
      <p:sp>
        <p:nvSpPr>
          <p:cNvPr id="24" name="Cell3_Value6"/>
          <p:cNvSpPr txBox="1"/>
          <p:nvPr/>
        </p:nvSpPr>
        <p:spPr>
          <a:xfrm>
            <a:off x="15005304" y="12653772"/>
            <a:ext cx="1572768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E8D3A2"/>
                </a:solidFill>
                <a:latin typeface="Encode Sans Normal"/>
              </a:rPr>
              <a:t>0</a:t>
            </a:r>
          </a:p>
        </p:txBody>
      </p:sp>
      <p:sp>
        <p:nvSpPr>
          <p:cNvPr id="25" name="Cell3_Label6"/>
          <p:cNvSpPr txBox="1"/>
          <p:nvPr/>
        </p:nvSpPr>
        <p:spPr>
          <a:xfrm>
            <a:off x="16706088" y="12653772"/>
            <a:ext cx="3575303" cy="7513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Open Sans"/>
              </a:rPr>
              <a:t>identity collisions, because a vocabulary carries a hash</a:t>
            </a:r>
          </a:p>
        </p:txBody>
      </p:sp>
      <p:sp>
        <p:nvSpPr>
          <p:cNvPr id="26" name="Cell2_Heading"/>
          <p:cNvSpPr txBox="1"/>
          <p:nvPr/>
        </p:nvSpPr>
        <p:spPr>
          <a:xfrm>
            <a:off x="1371600" y="13761720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Budget in tokens, not epochs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71600" y="14694408"/>
            <a:ext cx="58064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ell2_List"/>
          <p:cNvSpPr txBox="1"/>
          <p:nvPr/>
        </p:nvSpPr>
        <p:spPr>
          <a:xfrm>
            <a:off x="1371600" y="14895576"/>
            <a:ext cx="5806440" cy="3931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Epochs were right in 502–504: the dataset was fixed.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Here it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is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the experiment — "40 epochs" gives one arm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256×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So fix tokens, and let epochs fall out.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Every run is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1.024B tokens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: the 4M corpus seen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256×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the 1,024M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once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Tokens ÷ tok/s = the wall clock.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1.024B ÷ 443k ≈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38 min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the chart's top bar.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A truncated run is a different experiment.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The schedule anneals to zero at the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planned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end — halfway is mid-schedule.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Our own records carried the bug.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The epoch field reads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125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; the truth: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16 passes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</a:t>
            </a:r>
          </a:p>
        </p:txBody>
      </p:sp>
      <p:sp>
        <p:nvSpPr>
          <p:cNvPr id="29" name="Cell4_Heading"/>
          <p:cNvSpPr txBox="1"/>
          <p:nvPr/>
        </p:nvSpPr>
        <p:spPr>
          <a:xfrm>
            <a:off x="8001000" y="13761720"/>
            <a:ext cx="124358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What we made faster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01000" y="14694408"/>
            <a:ext cx="124358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ell4_Lead"/>
          <p:cNvSpPr txBox="1"/>
          <p:nvPr/>
        </p:nvSpPr>
        <p:spPr>
          <a:xfrm>
            <a:off x="8001000" y="14822424"/>
            <a:ext cx="12435840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2.07× on the four-cell benchmark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only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1.32×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of it efficiency; the rest is a second card nobody had used.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A third of the twenty were rejected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and a list of only the wins would be marketing rather than a log. Every row had to make the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same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experiment faster.</a:t>
            </a:r>
          </a:p>
        </p:txBody>
      </p:sp>
      <p:sp>
        <p:nvSpPr>
          <p:cNvPr id="32" name="Cell4_H00"/>
          <p:cNvSpPr txBox="1"/>
          <p:nvPr/>
        </p:nvSpPr>
        <p:spPr>
          <a:xfrm>
            <a:off x="8001000" y="15718536"/>
            <a:ext cx="1783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5E5A66"/>
                </a:solidFill>
                <a:latin typeface="Uni Sans Book"/>
              </a:rPr>
              <a:t>WHAT CHANGED</a:t>
            </a:r>
          </a:p>
        </p:txBody>
      </p:sp>
      <p:sp>
        <p:nvSpPr>
          <p:cNvPr id="33" name="Cell4_H01"/>
          <p:cNvSpPr txBox="1"/>
          <p:nvPr/>
        </p:nvSpPr>
        <p:spPr>
          <a:xfrm>
            <a:off x="10616184" y="15718536"/>
            <a:ext cx="1783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5E5A66"/>
                </a:solidFill>
                <a:latin typeface="Uni Sans Book"/>
              </a:rPr>
              <a:t>MEASURED</a:t>
            </a:r>
          </a:p>
        </p:txBody>
      </p:sp>
      <p:sp>
        <p:nvSpPr>
          <p:cNvPr id="34" name="Cell4_H02"/>
          <p:cNvSpPr txBox="1"/>
          <p:nvPr/>
        </p:nvSpPr>
        <p:spPr>
          <a:xfrm>
            <a:off x="12874752" y="15718536"/>
            <a:ext cx="1783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5E5A66"/>
                </a:solidFill>
                <a:latin typeface="Uni Sans Book"/>
              </a:rPr>
              <a:t>KEPT?</a:t>
            </a:r>
          </a:p>
        </p:txBody>
      </p:sp>
      <p:sp>
        <p:nvSpPr>
          <p:cNvPr id="35" name="Cell4_G00"/>
          <p:cNvSpPr txBox="1"/>
          <p:nvPr/>
        </p:nvSpPr>
        <p:spPr>
          <a:xfrm>
            <a:off x="8001000" y="15937992"/>
            <a:ext cx="5943600" cy="1965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32006E"/>
                </a:solidFill>
                <a:latin typeface="Uni Sans Book"/>
              </a:rPr>
              <a:t>THE DATA PATH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001000" y="16116300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ell4_R01C0"/>
          <p:cNvSpPr txBox="1"/>
          <p:nvPr/>
        </p:nvSpPr>
        <p:spPr>
          <a:xfrm>
            <a:off x="8001000" y="16152876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 · dataset on the card, no loader</a:t>
            </a:r>
          </a:p>
        </p:txBody>
      </p:sp>
      <p:sp>
        <p:nvSpPr>
          <p:cNvPr id="38" name="Cell4_R01C1"/>
          <p:cNvSpPr txBox="1"/>
          <p:nvPr/>
        </p:nvSpPr>
        <p:spPr>
          <a:xfrm>
            <a:off x="10616184" y="16152876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13.8k → </a:t>
            </a:r>
            <a:r>
              <a:rPr sz="1100" b="1" i="0">
                <a:solidFill>
                  <a:srgbClr val="1F1F24"/>
                </a:solidFill>
                <a:latin typeface="Open Sans"/>
              </a:rPr>
              <a:t>18.5k img/s</a:t>
            </a:r>
          </a:p>
        </p:txBody>
      </p:sp>
      <p:sp>
        <p:nvSpPr>
          <p:cNvPr id="39" name="Cell4_R01C2"/>
          <p:cNvSpPr txBox="1"/>
          <p:nvPr/>
        </p:nvSpPr>
        <p:spPr>
          <a:xfrm>
            <a:off x="12874752" y="16152876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001000" y="16331184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ell4_R02C0"/>
          <p:cNvSpPr txBox="1"/>
          <p:nvPr/>
        </p:nvSpPr>
        <p:spPr>
          <a:xfrm>
            <a:off x="8001000" y="16367759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2 · images as uint8, cast per batch</a:t>
            </a:r>
          </a:p>
        </p:txBody>
      </p:sp>
      <p:sp>
        <p:nvSpPr>
          <p:cNvPr id="42" name="Cell4_R02C1"/>
          <p:cNvSpPr txBox="1"/>
          <p:nvPr/>
        </p:nvSpPr>
        <p:spPr>
          <a:xfrm>
            <a:off x="10616184" y="16367759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4× less memory, free cast</a:t>
            </a:r>
          </a:p>
        </p:txBody>
      </p:sp>
      <p:sp>
        <p:nvSpPr>
          <p:cNvPr id="43" name="Cell4_R02C2"/>
          <p:cNvSpPr txBox="1"/>
          <p:nvPr/>
        </p:nvSpPr>
        <p:spPr>
          <a:xfrm>
            <a:off x="12874752" y="16367759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001000" y="16546067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ell4_R03C0"/>
          <p:cNvSpPr txBox="1"/>
          <p:nvPr/>
        </p:nvSpPr>
        <p:spPr>
          <a:xfrm>
            <a:off x="8001000" y="16582643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3 · augment on the GPU</a:t>
            </a:r>
          </a:p>
        </p:txBody>
      </p:sp>
      <p:sp>
        <p:nvSpPr>
          <p:cNvPr id="46" name="Cell4_R03C1"/>
          <p:cNvSpPr txBox="1"/>
          <p:nvPr/>
        </p:nvSpPr>
        <p:spPr>
          <a:xfrm>
            <a:off x="10616184" y="16582643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no PIL, no host copy</a:t>
            </a:r>
          </a:p>
        </p:txBody>
      </p:sp>
      <p:sp>
        <p:nvSpPr>
          <p:cNvPr id="47" name="Cell4_R03C2"/>
          <p:cNvSpPr txBox="1"/>
          <p:nvPr/>
        </p:nvSpPr>
        <p:spPr>
          <a:xfrm>
            <a:off x="12874752" y="16582643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001000" y="16760952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ell4_R04C0"/>
          <p:cNvSpPr txBox="1"/>
          <p:nvPr/>
        </p:nvSpPr>
        <p:spPr>
          <a:xfrm>
            <a:off x="8001000" y="16797528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4 · tokenize once, up front</a:t>
            </a:r>
          </a:p>
        </p:txBody>
      </p:sp>
      <p:sp>
        <p:nvSpPr>
          <p:cNvPr id="50" name="Cell4_R04C1"/>
          <p:cNvSpPr txBox="1"/>
          <p:nvPr/>
        </p:nvSpPr>
        <p:spPr>
          <a:xfrm>
            <a:off x="10616184" y="16797528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53 s vs 85 min — </a:t>
            </a:r>
            <a:r>
              <a:rPr sz="1100" b="1" i="0">
                <a:solidFill>
                  <a:srgbClr val="1F1F24"/>
                </a:solidFill>
                <a:latin typeface="Open Sans"/>
              </a:rPr>
              <a:t>96×</a:t>
            </a:r>
          </a:p>
        </p:txBody>
      </p:sp>
      <p:sp>
        <p:nvSpPr>
          <p:cNvPr id="51" name="Cell4_R04C2"/>
          <p:cNvSpPr txBox="1"/>
          <p:nvPr/>
        </p:nvSpPr>
        <p:spPr>
          <a:xfrm>
            <a:off x="12874752" y="16797528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001000" y="16975836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ell4_R05C0"/>
          <p:cNvSpPr txBox="1"/>
          <p:nvPr/>
        </p:nvSpPr>
        <p:spPr>
          <a:xfrm>
            <a:off x="8001000" y="17012412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5 · token dtype from the vocabulary</a:t>
            </a:r>
          </a:p>
        </p:txBody>
      </p:sp>
      <p:sp>
        <p:nvSpPr>
          <p:cNvPr id="54" name="Cell4_R05C1"/>
          <p:cNvSpPr txBox="1"/>
          <p:nvPr/>
        </p:nvSpPr>
        <p:spPr>
          <a:xfrm>
            <a:off x="10616184" y="17012412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16k → </a:t>
            </a:r>
            <a:r>
              <a:rPr sz="1100" b="1" i="0">
                <a:solidFill>
                  <a:srgbClr val="1F1F24"/>
                </a:solidFill>
                <a:latin typeface="Open Sans"/>
              </a:rPr>
              <a:t>2 bytes a token</a:t>
            </a:r>
          </a:p>
        </p:txBody>
      </p:sp>
      <p:sp>
        <p:nvSpPr>
          <p:cNvPr id="55" name="Cell4_R05C2"/>
          <p:cNvSpPr txBox="1"/>
          <p:nvPr/>
        </p:nvSpPr>
        <p:spPr>
          <a:xfrm>
            <a:off x="12874752" y="17012412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sp>
        <p:nvSpPr>
          <p:cNvPr id="56" name="Cell4_G06"/>
          <p:cNvSpPr txBox="1"/>
          <p:nvPr/>
        </p:nvSpPr>
        <p:spPr>
          <a:xfrm>
            <a:off x="8001000" y="17227296"/>
            <a:ext cx="5943600" cy="1965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32006E"/>
                </a:solidFill>
                <a:latin typeface="Uni Sans Book"/>
              </a:rPr>
              <a:t>PRECISION AND KERNELS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001000" y="17405604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ell4_R07C0"/>
          <p:cNvSpPr txBox="1"/>
          <p:nvPr/>
        </p:nvSpPr>
        <p:spPr>
          <a:xfrm>
            <a:off x="8001000" y="17442180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6 · bf16 autocast, not fp16</a:t>
            </a:r>
          </a:p>
        </p:txBody>
      </p:sp>
      <p:sp>
        <p:nvSpPr>
          <p:cNvPr id="59" name="Cell4_R07C1"/>
          <p:cNvSpPr txBox="1"/>
          <p:nvPr/>
        </p:nvSpPr>
        <p:spPr>
          <a:xfrm>
            <a:off x="10616184" y="17442180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1F1F24"/>
                </a:solidFill>
                <a:latin typeface="Open Sans"/>
              </a:rPr>
              <a:t>1.34×</a:t>
            </a:r>
            <a:r>
              <a:rPr sz="1100" b="0" i="0">
                <a:solidFill>
                  <a:srgbClr val="1F1F24"/>
                </a:solidFill>
                <a:latin typeface="Open Sans"/>
              </a:rPr>
              <a:t> on sm_89, no loss-scale</a:t>
            </a:r>
          </a:p>
        </p:txBody>
      </p:sp>
      <p:sp>
        <p:nvSpPr>
          <p:cNvPr id="60" name="Cell4_R07C2"/>
          <p:cNvSpPr txBox="1"/>
          <p:nvPr/>
        </p:nvSpPr>
        <p:spPr>
          <a:xfrm>
            <a:off x="12874752" y="17442180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001000" y="17620488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ell4_R08C0"/>
          <p:cNvSpPr txBox="1"/>
          <p:nvPr/>
        </p:nvSpPr>
        <p:spPr>
          <a:xfrm>
            <a:off x="8001000" y="17657064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7 · channels_last for CNNs, bf16 only</a:t>
            </a:r>
          </a:p>
        </p:txBody>
      </p:sp>
      <p:sp>
        <p:nvSpPr>
          <p:cNvPr id="63" name="Cell4_R08C1"/>
          <p:cNvSpPr txBox="1"/>
          <p:nvPr/>
        </p:nvSpPr>
        <p:spPr>
          <a:xfrm>
            <a:off x="10616184" y="17657064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fp16 + it is </a:t>
            </a:r>
            <a:r>
              <a:rPr sz="1100" b="1" i="0">
                <a:solidFill>
                  <a:srgbClr val="1F1F24"/>
                </a:solidFill>
                <a:latin typeface="Open Sans"/>
              </a:rPr>
              <a:t>3.5× slower</a:t>
            </a:r>
          </a:p>
        </p:txBody>
      </p:sp>
      <p:sp>
        <p:nvSpPr>
          <p:cNvPr id="64" name="Cell4_R08C2"/>
          <p:cNvSpPr txBox="1"/>
          <p:nvPr/>
        </p:nvSpPr>
        <p:spPr>
          <a:xfrm>
            <a:off x="12874752" y="17657064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guarded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001000" y="17835372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Cell4_R09C0"/>
          <p:cNvSpPr txBox="1"/>
          <p:nvPr/>
        </p:nvSpPr>
        <p:spPr>
          <a:xfrm>
            <a:off x="8001000" y="17871948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8 · channels_last for ViTs</a:t>
            </a:r>
          </a:p>
        </p:txBody>
      </p:sp>
      <p:sp>
        <p:nvSpPr>
          <p:cNvPr id="67" name="Cell4_R09C1"/>
          <p:cNvSpPr txBox="1"/>
          <p:nvPr/>
        </p:nvSpPr>
        <p:spPr>
          <a:xfrm>
            <a:off x="10616184" y="17871948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a no-op on a transformer</a:t>
            </a:r>
          </a:p>
        </p:txBody>
      </p:sp>
      <p:sp>
        <p:nvSpPr>
          <p:cNvPr id="68" name="Cell4_R09C2"/>
          <p:cNvSpPr txBox="1"/>
          <p:nvPr/>
        </p:nvSpPr>
        <p:spPr>
          <a:xfrm>
            <a:off x="12874752" y="17871948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B03A2E"/>
                </a:solidFill>
                <a:latin typeface="Open Sans"/>
              </a:rPr>
              <a:t>no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001000" y="18050256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ell4_R010C0"/>
          <p:cNvSpPr txBox="1"/>
          <p:nvPr/>
        </p:nvSpPr>
        <p:spPr>
          <a:xfrm>
            <a:off x="8001000" y="18086832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9 · TF32 for matmul and cuDNN</a:t>
            </a:r>
          </a:p>
        </p:txBody>
      </p:sp>
      <p:sp>
        <p:nvSpPr>
          <p:cNvPr id="71" name="Cell4_R010C1"/>
          <p:cNvSpPr txBox="1"/>
          <p:nvPr/>
        </p:nvSpPr>
        <p:spPr>
          <a:xfrm>
            <a:off x="10616184" y="18086832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free on Ampere and later</a:t>
            </a:r>
          </a:p>
        </p:txBody>
      </p:sp>
      <p:sp>
        <p:nvSpPr>
          <p:cNvPr id="72" name="Cell4_R010C2"/>
          <p:cNvSpPr txBox="1"/>
          <p:nvPr/>
        </p:nvSpPr>
        <p:spPr>
          <a:xfrm>
            <a:off x="12874752" y="18086832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001000" y="18265140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Cell4_R011C0"/>
          <p:cNvSpPr txBox="1"/>
          <p:nvPr/>
        </p:nvSpPr>
        <p:spPr>
          <a:xfrm>
            <a:off x="8001000" y="18301716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10 · cudnn.benchmark = True</a:t>
            </a:r>
          </a:p>
        </p:txBody>
      </p:sp>
      <p:sp>
        <p:nvSpPr>
          <p:cNvPr id="75" name="Cell4_R011C1"/>
          <p:cNvSpPr txBox="1"/>
          <p:nvPr/>
        </p:nvSpPr>
        <p:spPr>
          <a:xfrm>
            <a:off x="10616184" y="18301716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worth it when shapes are fixed</a:t>
            </a:r>
          </a:p>
        </p:txBody>
      </p:sp>
      <p:sp>
        <p:nvSpPr>
          <p:cNvPr id="76" name="Cell4_R011C2"/>
          <p:cNvSpPr txBox="1"/>
          <p:nvPr/>
        </p:nvSpPr>
        <p:spPr>
          <a:xfrm>
            <a:off x="12874752" y="18301716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sp>
        <p:nvSpPr>
          <p:cNvPr id="77" name="Cell4_H10"/>
          <p:cNvSpPr txBox="1"/>
          <p:nvPr/>
        </p:nvSpPr>
        <p:spPr>
          <a:xfrm>
            <a:off x="14493240" y="15718536"/>
            <a:ext cx="1783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5E5A66"/>
                </a:solidFill>
                <a:latin typeface="Uni Sans Book"/>
              </a:rPr>
              <a:t>WHAT CHANGED</a:t>
            </a:r>
          </a:p>
        </p:txBody>
      </p:sp>
      <p:sp>
        <p:nvSpPr>
          <p:cNvPr id="78" name="Cell4_H11"/>
          <p:cNvSpPr txBox="1"/>
          <p:nvPr/>
        </p:nvSpPr>
        <p:spPr>
          <a:xfrm>
            <a:off x="17108424" y="15718536"/>
            <a:ext cx="1783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5E5A66"/>
                </a:solidFill>
                <a:latin typeface="Uni Sans Book"/>
              </a:rPr>
              <a:t>MEASURED</a:t>
            </a:r>
          </a:p>
        </p:txBody>
      </p:sp>
      <p:sp>
        <p:nvSpPr>
          <p:cNvPr id="79" name="Cell4_H12"/>
          <p:cNvSpPr txBox="1"/>
          <p:nvPr/>
        </p:nvSpPr>
        <p:spPr>
          <a:xfrm>
            <a:off x="19366992" y="15718536"/>
            <a:ext cx="1783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5E5A66"/>
                </a:solidFill>
                <a:latin typeface="Uni Sans Book"/>
              </a:rPr>
              <a:t>KEPT?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4493240" y="15901416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ell4_R10C0"/>
          <p:cNvSpPr txBox="1"/>
          <p:nvPr/>
        </p:nvSpPr>
        <p:spPr>
          <a:xfrm>
            <a:off x="14493240" y="15937992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11 · fused SGD and AdamW</a:t>
            </a:r>
          </a:p>
        </p:txBody>
      </p:sp>
      <p:sp>
        <p:nvSpPr>
          <p:cNvPr id="82" name="Cell4_R10C1"/>
          <p:cNvSpPr txBox="1"/>
          <p:nvPr/>
        </p:nvSpPr>
        <p:spPr>
          <a:xfrm>
            <a:off x="17108424" y="15937992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one kernel, not a chain</a:t>
            </a:r>
          </a:p>
        </p:txBody>
      </p:sp>
      <p:sp>
        <p:nvSpPr>
          <p:cNvPr id="83" name="Cell4_R10C2"/>
          <p:cNvSpPr txBox="1"/>
          <p:nvPr/>
        </p:nvSpPr>
        <p:spPr>
          <a:xfrm>
            <a:off x="19366992" y="15937992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4493240" y="16116300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Cell4_R11C0"/>
          <p:cNvSpPr txBox="1"/>
          <p:nvPr/>
        </p:nvSpPr>
        <p:spPr>
          <a:xfrm>
            <a:off x="14493240" y="16152876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12 · torch.compile</a:t>
            </a:r>
          </a:p>
        </p:txBody>
      </p:sp>
      <p:sp>
        <p:nvSpPr>
          <p:cNvPr id="86" name="Cell4_R11C1"/>
          <p:cNvSpPr txBox="1"/>
          <p:nvPr/>
        </p:nvSpPr>
        <p:spPr>
          <a:xfrm>
            <a:off x="17108424" y="16152876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no Triton on Windows</a:t>
            </a:r>
          </a:p>
        </p:txBody>
      </p:sp>
      <p:sp>
        <p:nvSpPr>
          <p:cNvPr id="87" name="Cell4_R11C2"/>
          <p:cNvSpPr txBox="1"/>
          <p:nvPr/>
        </p:nvSpPr>
        <p:spPr>
          <a:xfrm>
            <a:off x="19366992" y="16152876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2A5DB0"/>
                </a:solidFill>
                <a:latin typeface="Open Sans"/>
              </a:rPr>
              <a:t>can't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4493240" y="16331184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Cell4_R12C0"/>
          <p:cNvSpPr txBox="1"/>
          <p:nvPr/>
        </p:nvSpPr>
        <p:spPr>
          <a:xfrm>
            <a:off x="14493240" y="16367759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13 · attention backend</a:t>
            </a:r>
          </a:p>
        </p:txBody>
      </p:sp>
      <p:sp>
        <p:nvSpPr>
          <p:cNvPr id="90" name="Cell4_R12C1"/>
          <p:cNvSpPr txBox="1"/>
          <p:nvPr/>
        </p:nvSpPr>
        <p:spPr>
          <a:xfrm>
            <a:off x="17108424" y="16367759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already sdpa</a:t>
            </a:r>
          </a:p>
        </p:txBody>
      </p:sp>
      <p:sp>
        <p:nvSpPr>
          <p:cNvPr id="91" name="Cell4_R12C2"/>
          <p:cNvSpPr txBox="1"/>
          <p:nvPr/>
        </p:nvSpPr>
        <p:spPr>
          <a:xfrm>
            <a:off x="19366992" y="16367759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5E5A66"/>
                </a:solidFill>
                <a:latin typeface="Open Sans"/>
              </a:rPr>
              <a:t>no change</a:t>
            </a:r>
          </a:p>
        </p:txBody>
      </p:sp>
      <p:sp>
        <p:nvSpPr>
          <p:cNvPr id="92" name="Cell4_G13"/>
          <p:cNvSpPr txBox="1"/>
          <p:nvPr/>
        </p:nvSpPr>
        <p:spPr>
          <a:xfrm>
            <a:off x="14493240" y="16582643"/>
            <a:ext cx="5943600" cy="1965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32006E"/>
                </a:solidFill>
                <a:latin typeface="Uni Sans Book"/>
              </a:rPr>
              <a:t>HOST-SYNC DISCIPLINE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14493240" y="16760952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Cell4_R14C0"/>
          <p:cNvSpPr txBox="1"/>
          <p:nvPr/>
        </p:nvSpPr>
        <p:spPr>
          <a:xfrm>
            <a:off x="14493240" y="16797528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14 · drop the per-step .item(), CIFAR</a:t>
            </a:r>
          </a:p>
        </p:txBody>
      </p:sp>
      <p:sp>
        <p:nvSpPr>
          <p:cNvPr id="95" name="Cell4_R14C1"/>
          <p:cNvSpPr txBox="1"/>
          <p:nvPr/>
        </p:nvSpPr>
        <p:spPr>
          <a:xfrm>
            <a:off x="17108424" y="16797528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1F1F24"/>
                </a:solidFill>
                <a:latin typeface="Open Sans"/>
              </a:rPr>
              <a:t>~7%</a:t>
            </a:r>
          </a:p>
        </p:txBody>
      </p:sp>
      <p:sp>
        <p:nvSpPr>
          <p:cNvPr id="96" name="Cell4_R14C2"/>
          <p:cNvSpPr txBox="1"/>
          <p:nvPr/>
        </p:nvSpPr>
        <p:spPr>
          <a:xfrm>
            <a:off x="19366992" y="16797528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4493240" y="16975836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Cell4_R15C0"/>
          <p:cNvSpPr txBox="1"/>
          <p:nvPr/>
        </p:nvSpPr>
        <p:spPr>
          <a:xfrm>
            <a:off x="14493240" y="17012412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15 · the same at MLM scale</a:t>
            </a:r>
          </a:p>
        </p:txBody>
      </p:sp>
      <p:sp>
        <p:nvSpPr>
          <p:cNvPr id="99" name="Cell4_R15C1"/>
          <p:cNvSpPr txBox="1"/>
          <p:nvPr/>
        </p:nvSpPr>
        <p:spPr>
          <a:xfrm>
            <a:off x="17108424" y="17012412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1F1F24"/>
                </a:solidFill>
                <a:latin typeface="Open Sans"/>
              </a:rPr>
              <a:t>2%</a:t>
            </a:r>
            <a:r>
              <a:rPr sz="1100" b="0" i="0">
                <a:solidFill>
                  <a:srgbClr val="1F1F24"/>
                </a:solidFill>
                <a:latin typeface="Open Sans"/>
              </a:rPr>
              <a:t> — a live loss is worth it</a:t>
            </a:r>
          </a:p>
        </p:txBody>
      </p:sp>
      <p:sp>
        <p:nvSpPr>
          <p:cNvPr id="100" name="Cell4_R15C2"/>
          <p:cNvSpPr txBox="1"/>
          <p:nvPr/>
        </p:nvSpPr>
        <p:spPr>
          <a:xfrm>
            <a:off x="19366992" y="17012412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B03A2E"/>
                </a:solidFill>
                <a:latin typeface="Open Sans"/>
              </a:rPr>
              <a:t>no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14493240" y="17190720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Cell4_R16C0"/>
          <p:cNvSpPr txBox="1"/>
          <p:nvPr/>
        </p:nvSpPr>
        <p:spPr>
          <a:xfrm>
            <a:off x="14493240" y="17227296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16 · zero_grad(set_to_none=True)</a:t>
            </a:r>
          </a:p>
        </p:txBody>
      </p:sp>
      <p:sp>
        <p:nvSpPr>
          <p:cNvPr id="103" name="Cell4_R16C1"/>
          <p:cNvSpPr txBox="1"/>
          <p:nvPr/>
        </p:nvSpPr>
        <p:spPr>
          <a:xfrm>
            <a:off x="17108424" y="17227296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skips a full zero-fill</a:t>
            </a:r>
          </a:p>
        </p:txBody>
      </p:sp>
      <p:sp>
        <p:nvSpPr>
          <p:cNvPr id="104" name="Cell4_R16C2"/>
          <p:cNvSpPr txBox="1"/>
          <p:nvPr/>
        </p:nvSpPr>
        <p:spPr>
          <a:xfrm>
            <a:off x="19366992" y="17227296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sp>
        <p:nvSpPr>
          <p:cNvPr id="105" name="Cell4_G17"/>
          <p:cNvSpPr txBox="1"/>
          <p:nvPr/>
        </p:nvSpPr>
        <p:spPr>
          <a:xfrm>
            <a:off x="14493240" y="17442180"/>
            <a:ext cx="5943600" cy="1965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32006E"/>
                </a:solidFill>
                <a:latin typeface="Uni Sans Book"/>
              </a:rPr>
              <a:t>BATCHING AND SCHEDULING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14493240" y="17620488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Cell4_R18C0"/>
          <p:cNvSpPr txBox="1"/>
          <p:nvPr/>
        </p:nvSpPr>
        <p:spPr>
          <a:xfrm>
            <a:off x="14493240" y="17657064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17 · batch 64 → 128</a:t>
            </a:r>
          </a:p>
        </p:txBody>
      </p:sp>
      <p:sp>
        <p:nvSpPr>
          <p:cNvPr id="108" name="Cell4_R18C1"/>
          <p:cNvSpPr txBox="1"/>
          <p:nvPr/>
        </p:nvSpPr>
        <p:spPr>
          <a:xfrm>
            <a:off x="17108424" y="17657064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1F1F24"/>
                </a:solidFill>
                <a:latin typeface="Open Sans"/>
              </a:rPr>
              <a:t>1.31×</a:t>
            </a:r>
            <a:r>
              <a:rPr sz="1100" b="0" i="0">
                <a:solidFill>
                  <a:srgbClr val="1F1F24"/>
                </a:solidFill>
                <a:latin typeface="Open Sans"/>
              </a:rPr>
              <a:t> — 2048 is </a:t>
            </a:r>
            <a:r>
              <a:rPr sz="1100" b="0" i="1">
                <a:solidFill>
                  <a:srgbClr val="1F1F24"/>
                </a:solidFill>
                <a:latin typeface="Open Sans"/>
              </a:rPr>
              <a:t>slower</a:t>
            </a:r>
          </a:p>
        </p:txBody>
      </p:sp>
      <p:sp>
        <p:nvSpPr>
          <p:cNvPr id="109" name="Cell4_R18C2"/>
          <p:cNvSpPr txBox="1"/>
          <p:nvPr/>
        </p:nvSpPr>
        <p:spPr>
          <a:xfrm>
            <a:off x="19366992" y="17657064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14493240" y="17835372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Cell4_R19C0"/>
          <p:cNvSpPr txBox="1"/>
          <p:nvPr/>
        </p:nvSpPr>
        <p:spPr>
          <a:xfrm>
            <a:off x="14493240" y="17871948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18 · checkpointing for speed</a:t>
            </a:r>
          </a:p>
        </p:txBody>
      </p:sp>
      <p:sp>
        <p:nvSpPr>
          <p:cNvPr id="112" name="Cell4_R19C1"/>
          <p:cNvSpPr txBox="1"/>
          <p:nvPr/>
        </p:nvSpPr>
        <p:spPr>
          <a:xfrm>
            <a:off x="17108424" y="17871948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peak is </a:t>
            </a:r>
            <a:r>
              <a:rPr sz="1100" b="1" i="0">
                <a:solidFill>
                  <a:srgbClr val="1F1F24"/>
                </a:solidFill>
                <a:latin typeface="Open Sans"/>
              </a:rPr>
              <a:t>3.3 GB of 96</a:t>
            </a:r>
          </a:p>
        </p:txBody>
      </p:sp>
      <p:sp>
        <p:nvSpPr>
          <p:cNvPr id="113" name="Cell4_R19C2"/>
          <p:cNvSpPr txBox="1"/>
          <p:nvPr/>
        </p:nvSpPr>
        <p:spPr>
          <a:xfrm>
            <a:off x="19366992" y="17871948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B03A2E"/>
                </a:solidFill>
                <a:latin typeface="Open Sans"/>
              </a:rPr>
              <a:t>no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4493240" y="18050256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Cell4_R110C0"/>
          <p:cNvSpPr txBox="1"/>
          <p:nvPr/>
        </p:nvSpPr>
        <p:spPr>
          <a:xfrm>
            <a:off x="14493240" y="18086832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19 · use the second card</a:t>
            </a:r>
          </a:p>
        </p:txBody>
      </p:sp>
      <p:sp>
        <p:nvSpPr>
          <p:cNvPr id="116" name="Cell4_R110C1"/>
          <p:cNvSpPr txBox="1"/>
          <p:nvPr/>
        </p:nvSpPr>
        <p:spPr>
          <a:xfrm>
            <a:off x="17108424" y="18086832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1F1F24"/>
                </a:solidFill>
                <a:latin typeface="Open Sans"/>
              </a:rPr>
              <a:t>91% / 93%</a:t>
            </a:r>
            <a:r>
              <a:rPr sz="1100" b="0" i="0">
                <a:solidFill>
                  <a:srgbClr val="1F1F24"/>
                </a:solidFill>
                <a:latin typeface="Open Sans"/>
              </a:rPr>
              <a:t> busy at 300 W</a:t>
            </a:r>
          </a:p>
        </p:txBody>
      </p:sp>
      <p:sp>
        <p:nvSpPr>
          <p:cNvPr id="117" name="Cell4_R110C2"/>
          <p:cNvSpPr txBox="1"/>
          <p:nvPr/>
        </p:nvSpPr>
        <p:spPr>
          <a:xfrm>
            <a:off x="19366992" y="18086832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14493240" y="18265140"/>
            <a:ext cx="5943600" cy="0"/>
          </a:xfrm>
          <a:prstGeom prst="line">
            <a:avLst/>
          </a:prstGeom>
          <a:ln w="9525">
            <a:solidFill>
              <a:srgbClr val="D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Cell4_R111C0"/>
          <p:cNvSpPr txBox="1"/>
          <p:nvPr/>
        </p:nvSpPr>
        <p:spPr>
          <a:xfrm>
            <a:off x="14493240" y="18301716"/>
            <a:ext cx="2523744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1F1F24"/>
                </a:solidFill>
                <a:latin typeface="Open Sans"/>
              </a:rPr>
              <a:t>20 · longest-budget-first queue</a:t>
            </a:r>
          </a:p>
        </p:txBody>
      </p:sp>
      <p:sp>
        <p:nvSpPr>
          <p:cNvPr id="120" name="Cell4_R111C1"/>
          <p:cNvSpPr txBox="1"/>
          <p:nvPr/>
        </p:nvSpPr>
        <p:spPr>
          <a:xfrm>
            <a:off x="17108424" y="18301716"/>
            <a:ext cx="2167127" cy="178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1F1F24"/>
                </a:solidFill>
                <a:latin typeface="Open Sans"/>
              </a:rPr>
              <a:t>2.55×</a:t>
            </a:r>
            <a:r>
              <a:rPr sz="1100" b="0" i="0">
                <a:solidFill>
                  <a:srgbClr val="1F1F24"/>
                </a:solidFill>
                <a:latin typeface="Open Sans"/>
              </a:rPr>
              <a:t> projected, 2.07 seen</a:t>
            </a:r>
          </a:p>
        </p:txBody>
      </p:sp>
      <p:sp>
        <p:nvSpPr>
          <p:cNvPr id="121" name="Cell4_R111C2"/>
          <p:cNvSpPr txBox="1"/>
          <p:nvPr/>
        </p:nvSpPr>
        <p:spPr>
          <a:xfrm>
            <a:off x="19366992" y="18301716"/>
            <a:ext cx="978408" cy="1783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F7A4C"/>
                </a:solidFill>
                <a:latin typeface="Open Sans"/>
              </a:rPr>
              <a:t>yes</a:t>
            </a:r>
          </a:p>
        </p:txBody>
      </p:sp>
      <p:sp>
        <p:nvSpPr>
          <p:cNvPr id="122" name="Cell5_Heading"/>
          <p:cNvSpPr txBox="1"/>
          <p:nvPr/>
        </p:nvSpPr>
        <p:spPr>
          <a:xfrm>
            <a:off x="1371600" y="19046952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You cannot judge a run early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371600" y="19979639"/>
            <a:ext cx="58064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Cell5_Caption"/>
          <p:cNvSpPr txBox="1"/>
          <p:nvPr/>
        </p:nvSpPr>
        <p:spPr>
          <a:xfrm>
            <a:off x="1371600" y="22658831"/>
            <a:ext cx="580644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Yoruba, English and ten more, all on one axis. Every run that learns sits flat and then falls off a cliff — and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no two fall at the same step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: earliest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2,200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latest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48,500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 So "still flat at step k" is evidence of nothing.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35 of 197 never learned.</a:t>
            </a:r>
          </a:p>
        </p:txBody>
      </p:sp>
      <p:sp>
        <p:nvSpPr>
          <p:cNvPr id="125" name="Cell6_Heading"/>
          <p:cNvSpPr txBox="1"/>
          <p:nvPr/>
        </p:nvSpPr>
        <p:spPr>
          <a:xfrm>
            <a:off x="8001000" y="19046952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The setting four languages want destroys the fifth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8001000" y="19979639"/>
            <a:ext cx="58064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Cell6_Caption"/>
          <p:cNvSpPr txBox="1"/>
          <p:nvPr/>
        </p:nvSpPr>
        <p:spPr>
          <a:xfrm>
            <a:off x="8001000" y="22658831"/>
            <a:ext cx="580644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Five languages, six learning rates, sixty runs, each cell scored against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that language's own best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: ★ its winner, ✕ far behind it, ◐ one seed of two.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Four land at their best in the outlined column. Igbo collapses there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the same setting, a wasted night.</a:t>
            </a:r>
          </a:p>
        </p:txBody>
      </p:sp>
      <p:sp>
        <p:nvSpPr>
          <p:cNvPr id="128" name="Cell7_Heading"/>
          <p:cNvSpPr txBox="1"/>
          <p:nvPr/>
        </p:nvSpPr>
        <p:spPr>
          <a:xfrm>
            <a:off x="14749272" y="19046952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One screen, both cards, a rush order at 9 p.m.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4749272" y="19979639"/>
            <a:ext cx="5806439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Cell7_Caption"/>
          <p:cNvSpPr txBox="1"/>
          <p:nvPr/>
        </p:nvSpPr>
        <p:spPr>
          <a:xfrm>
            <a:off x="14749272" y="22658831"/>
            <a:ext cx="580644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The chart is five English corpus sizes separating while they run. On 9 August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44.7 GPU-hours sat across 69 runs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and Patrick needed a sweep: a fleet pins to one card, so it took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card 1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while the queue kept card 0.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Twenty minutes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to running, on a measured promise.</a:t>
            </a:r>
          </a:p>
        </p:txBody>
      </p:sp>
      <p:sp>
        <p:nvSpPr>
          <p:cNvPr id="131" name="Cell9_Heading"/>
          <p:cNvSpPr txBox="1"/>
          <p:nvPr/>
        </p:nvSpPr>
        <p:spPr>
          <a:xfrm>
            <a:off x="1371600" y="24368760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A hundred runs is a filing problem first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1371600" y="25301448"/>
            <a:ext cx="58064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Cell9_Body"/>
          <p:cNvSpPr txBox="1"/>
          <p:nvPr/>
        </p:nvSpPr>
        <p:spPr>
          <a:xfrm>
            <a:off x="1371600" y="25429464"/>
            <a:ext cx="5806440" cy="2039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A study is declared as a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grid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languages × rates × seeds — never typed run by run. The queue orders it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longest-budget-first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 Every run writes a record naming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everything that changes the answer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settings, data fingerprint — after two runs differing only in vocabulary silently overwrote each other. "What have we tried?" is a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query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: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1,089 runs later, no collisions, no archaeology.</a:t>
            </a:r>
          </a:p>
        </p:txBody>
      </p:sp>
      <p:sp>
        <p:nvSpPr>
          <p:cNvPr id="134" name="Cell10_Heading"/>
          <p:cNvSpPr txBox="1"/>
          <p:nvPr/>
        </p:nvSpPr>
        <p:spPr>
          <a:xfrm>
            <a:off x="8001000" y="24368760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A result has to beat your own noise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8001000" y="25301448"/>
            <a:ext cx="58064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Cell10_Body"/>
          <p:cNvSpPr txBox="1"/>
          <p:nvPr/>
        </p:nvSpPr>
        <p:spPr>
          <a:xfrm>
            <a:off x="8001000" y="25429464"/>
            <a:ext cx="5806440" cy="2039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F1F24"/>
                </a:solidFill>
                <a:latin typeface="Open Sans"/>
              </a:rPr>
              <a:t>Run the same recipe twice and it lands in two different places. That is the seed, not the change you made. So we measured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our own noise first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and made every claim clear it by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2.27×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at three runs a side, no test can call anything significant. The spread is a property of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each cell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re-measured, never a constant we reused.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Two of our own claims did not clear it. We retired them.</a:t>
            </a:r>
          </a:p>
        </p:txBody>
      </p:sp>
      <p:sp>
        <p:nvSpPr>
          <p:cNvPr id="137" name="Cellstrip1_Heading"/>
          <p:cNvSpPr txBox="1"/>
          <p:nvPr/>
        </p:nvSpPr>
        <p:spPr>
          <a:xfrm>
            <a:off x="14749272" y="24368760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What we do not claim, and what we would do next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4749272" y="25301448"/>
            <a:ext cx="5806439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Cellstrip1_Body"/>
          <p:cNvSpPr txBox="1"/>
          <p:nvPr/>
        </p:nvSpPr>
        <p:spPr>
          <a:xfrm>
            <a:off x="14749272" y="25429464"/>
            <a:ext cx="5806440" cy="2039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Nobody on this team reads Yoruba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every judgement here is a benchmark number. The corpus is scraped web text nobody consented to. The audit gate prints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9 claims: 6 supported, 2 not, 1 underpowered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 Next: a wall meter, a corpus audit, the evaluation we could not do.</a:t>
            </a:r>
          </a:p>
        </p:txBody>
      </p:sp>
      <p:sp>
        <p:nvSpPr>
          <p:cNvPr id="140" name="Cell11_Heading"/>
          <p:cNvSpPr txBox="1"/>
          <p:nvPr/>
        </p:nvSpPr>
        <p:spPr>
          <a:xfrm>
            <a:off x="1371600" y="27688032"/>
            <a:ext cx="124358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32006E"/>
                </a:solidFill>
                <a:latin typeface="Encode Sans Normal"/>
              </a:rPr>
              <a:t>A factory that makes one thing is not a factory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1371600" y="28620720"/>
            <a:ext cx="12435840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Cell11_List"/>
          <p:cNvSpPr txBox="1"/>
          <p:nvPr/>
        </p:nvSpPr>
        <p:spPr>
          <a:xfrm>
            <a:off x="1371600" y="28821888"/>
            <a:ext cx="12435840" cy="29260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English is the ruler.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Why: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the one language where data was never the constraint.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Learned: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more data stops helping past 64M tokens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which Yoruba, having no more, could never show.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French, Indonesian, Mandarin are the control.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Why: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XLM-R knows these three well.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Learned: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they cost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1.04, 1.01, 0.95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— the penalty tracks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coverage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not "African".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Twelve African languages are the gradient.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Why: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an anecdote needs a slope behind it.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Learned: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the split falls along coverage —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Wolof, uncovered yet cheap at 1.31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the exception anecdotes hide.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Five languages got the whole sweep.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Why: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"one call per language" is only true if settings transfer. </a:t>
            </a:r>
            <a:r>
              <a:rPr sz="1700" b="0" i="1">
                <a:solidFill>
                  <a:srgbClr val="1F1F24"/>
                </a:solidFill>
                <a:latin typeface="Open Sans"/>
              </a:rPr>
              <a:t>Learned: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they do not —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the rate four languages want destroys Igbo.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700" b="1" i="0">
                <a:solidFill>
                  <a:srgbClr val="1F1F24"/>
                </a:solidFill>
                <a:latin typeface="Open Sans"/>
              </a:rPr>
              <a:t>None of us speaks any of them.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 So the spread is the evidence —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nine functions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, one call per language, </a:t>
            </a:r>
            <a:r>
              <a:rPr sz="1700" b="1" i="0">
                <a:solidFill>
                  <a:srgbClr val="1F1F24"/>
                </a:solidFill>
                <a:latin typeface="Open Sans"/>
              </a:rPr>
              <a:t>twelve in 48 minutes</a:t>
            </a:r>
            <a:r>
              <a:rPr sz="1700" b="0" i="0">
                <a:solidFill>
                  <a:srgbClr val="1F1F24"/>
                </a:solidFill>
                <a:latin typeface="Open Sans"/>
              </a:rPr>
              <a:t>.</a:t>
            </a:r>
          </a:p>
        </p:txBody>
      </p:sp>
      <p:sp>
        <p:nvSpPr>
          <p:cNvPr id="143" name="Cellstrip2_Heading"/>
          <p:cNvSpPr txBox="1"/>
          <p:nvPr/>
        </p:nvSpPr>
        <p:spPr>
          <a:xfrm>
            <a:off x="14749272" y="27688032"/>
            <a:ext cx="5806440" cy="896112"/>
          </a:xfrm>
          <a:prstGeom prst="rect">
            <a:avLst/>
          </a:prstGeom>
          <a:noFill/>
        </p:spPr>
        <p:txBody>
          <a:bodyPr wrap="square" lIns="27432" tIns="27432" rIns="27432" bIns="27432" anchor="b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32006E"/>
                </a:solidFill>
                <a:latin typeface="Encode Sans Normal"/>
              </a:rPr>
              <a:t>Sources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14749272" y="28620720"/>
            <a:ext cx="5806439" cy="0"/>
          </a:xfrm>
          <a:prstGeom prst="line">
            <a:avLst/>
          </a:prstGeom>
          <a:ln w="15875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Cellstrip2_Ref"/>
          <p:cNvSpPr txBox="1"/>
          <p:nvPr/>
        </p:nvSpPr>
        <p:spPr>
          <a:xfrm>
            <a:off x="14749272" y="28748736"/>
            <a:ext cx="5806440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1F1F24"/>
                </a:solidFill>
                <a:latin typeface="Open Sans"/>
              </a:rPr>
              <a:t>A. Conneau et al., "Unsupervised cross-lingual representation learning at scale," ACL, 2020, pp. 8440–8451.</a:t>
            </a:r>
          </a:p>
        </p:txBody>
      </p:sp>
      <p:sp>
        <p:nvSpPr>
          <p:cNvPr id="146" name="Cellstrip2_Ref"/>
          <p:cNvSpPr txBox="1"/>
          <p:nvPr/>
        </p:nvSpPr>
        <p:spPr>
          <a:xfrm>
            <a:off x="14749272" y="29388816"/>
            <a:ext cx="5806440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1F1F24"/>
                </a:solidFill>
                <a:latin typeface="Open Sans"/>
              </a:rPr>
              <a:t>M. Marone et al., "mmBERT: A modern multilingual encoder," arXiv:2509.06888, 2025.</a:t>
            </a:r>
          </a:p>
        </p:txBody>
      </p:sp>
      <p:sp>
        <p:nvSpPr>
          <p:cNvPr id="147" name="Cellstrip2_Ref"/>
          <p:cNvSpPr txBox="1"/>
          <p:nvPr/>
        </p:nvSpPr>
        <p:spPr>
          <a:xfrm>
            <a:off x="14749272" y="29836872"/>
            <a:ext cx="5806440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1F1F24"/>
                </a:solidFill>
                <a:latin typeface="Open Sans"/>
              </a:rPr>
              <a:t>Y. Liu et al., "RoBERTa: A robustly optimized BERT pretraining approach," arXiv:1907.11692, 2019.</a:t>
            </a:r>
          </a:p>
        </p:txBody>
      </p:sp>
      <p:sp>
        <p:nvSpPr>
          <p:cNvPr id="148" name="Cellstrip2_Ref"/>
          <p:cNvSpPr txBox="1"/>
          <p:nvPr/>
        </p:nvSpPr>
        <p:spPr>
          <a:xfrm>
            <a:off x="14749272" y="30476952"/>
            <a:ext cx="5806440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1F1F24"/>
                </a:solidFill>
                <a:latin typeface="Open Sans"/>
              </a:rPr>
              <a:t>D. I. Adelani et al., "SIB-200," EACL, 2024, pp. 226–245.</a:t>
            </a:r>
          </a:p>
        </p:txBody>
      </p:sp>
      <p:sp>
        <p:nvSpPr>
          <p:cNvPr id="149" name="Cellstrip2_Ref"/>
          <p:cNvSpPr txBox="1"/>
          <p:nvPr/>
        </p:nvSpPr>
        <p:spPr>
          <a:xfrm>
            <a:off x="14749272" y="30925008"/>
            <a:ext cx="5806440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1F1F24"/>
                </a:solidFill>
                <a:latin typeface="Open Sans"/>
              </a:rPr>
              <a:t>D. I. Adelani et al., "MasakhaNER 2.0," EMNLP, 2022, pp. 4488–4508.</a:t>
            </a:r>
          </a:p>
        </p:txBody>
      </p:sp>
      <p:sp>
        <p:nvSpPr>
          <p:cNvPr id="150" name="Cellstrip2_Ref"/>
          <p:cNvSpPr txBox="1"/>
          <p:nvPr/>
        </p:nvSpPr>
        <p:spPr>
          <a:xfrm>
            <a:off x="14749272" y="31373064"/>
            <a:ext cx="5806440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1F1F24"/>
                </a:solidFill>
                <a:latin typeface="Open Sans"/>
              </a:rPr>
              <a:t>G. Penedo et al., "FineWeb2: One pipeline to scale them all," arXiv:2506.20920, 2025.</a:t>
            </a:r>
          </a:p>
        </p:txBody>
      </p:sp>
      <p:sp>
        <p:nvSpPr>
          <p:cNvPr id="151" name="Cellstrip2_Ref"/>
          <p:cNvSpPr txBox="1"/>
          <p:nvPr/>
        </p:nvSpPr>
        <p:spPr>
          <a:xfrm>
            <a:off x="14749272" y="31821120"/>
            <a:ext cx="5806440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1F1F24"/>
                </a:solidFill>
                <a:latin typeface="Open Sans"/>
              </a:rPr>
              <a:t>L. N. Smith, "A disciplined approach to neural network hyper-parameters," arXiv:1803.09820, 2018.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1371600" y="31857696"/>
            <a:ext cx="19202400" cy="0"/>
          </a:xfrm>
          <a:prstGeom prst="line">
            <a:avLst/>
          </a:prstGeom>
          <a:ln w="12700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Footer_Sources"/>
          <p:cNvSpPr txBox="1"/>
          <p:nvPr/>
        </p:nvSpPr>
        <p:spPr>
          <a:xfrm>
            <a:off x="1371600" y="31967424"/>
            <a:ext cx="16733520" cy="11887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E5A66"/>
                </a:solidFill>
                <a:latin typeface="Open Sans"/>
              </a:rPr>
              <a:t>AI statement. We used Claude Code throughout to turn ideas into working code. It made the building faster and the verifying no faster at all — every number on this board is regenerated from committed records by a gate that fails the build when a claim and a record disagree. · Built with PyTorch and HuggingFace tokenizers, plus NumPy and matplotlib; no training framework above them — the loop, the masking, the scheduler and the run records are this project's own. Long jobs ran on a 2 × RTX PRO 6000 Blackwell workstation, benchmarked against Colab A100 / L4 / T4, a MacBook Pro (M4 Pro, MPS) and an 8 GB laptop. · Nineteen references, in full in report 09 §References. · Source: reports/12-the-bottom-board.md · every number on this board regenerates from committed runs/ records</a:t>
            </a:r>
          </a:p>
        </p:txBody>
      </p:sp>
      <p:sp>
        <p:nvSpPr>
          <p:cNvPr id="154" name="Footer_Tag"/>
          <p:cNvSpPr txBox="1"/>
          <p:nvPr/>
        </p:nvSpPr>
        <p:spPr>
          <a:xfrm>
            <a:off x="18288000" y="31985712"/>
            <a:ext cx="2286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32006E"/>
                </a:solidFill>
                <a:latin typeface="Uni Sans Book"/>
              </a:rPr>
              <a:t>CSED 504 · 2026</a:t>
            </a:r>
          </a:p>
        </p:txBody>
      </p:sp>
      <p:pic>
        <p:nvPicPr>
          <p:cNvPr id="156" name="Embedded_01_Cell1" descr="reports\figures\26-poster-hardware.svg">
            <a:extLst>
              <a:ext uri="{FF2B5EF4-FFF2-40B4-BE49-F238E27FC236}">
                <a16:creationId xmlns:a16="http://schemas.microsoft.com/office/drawing/2014/main" id="{477E9668-A654-1E84-261C-8B1D1673206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9062093"/>
            <a:ext cx="6812280" cy="2870437"/>
          </a:xfrm>
          <a:prstGeom prst="rect">
            <a:avLst/>
          </a:prstGeom>
        </p:spPr>
      </p:pic>
      <p:pic>
        <p:nvPicPr>
          <p:cNvPr id="158" name="Embedded_02_Cell5" descr="reports\figures\27-poster-cliffs.svg">
            <a:extLst>
              <a:ext uri="{FF2B5EF4-FFF2-40B4-BE49-F238E27FC236}">
                <a16:creationId xmlns:a16="http://schemas.microsoft.com/office/drawing/2014/main" id="{67A52BAE-9152-6DC1-D6F7-6A20A00CC84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3237" y="20107656"/>
            <a:ext cx="5763165" cy="2404872"/>
          </a:xfrm>
          <a:prstGeom prst="rect">
            <a:avLst/>
          </a:prstGeom>
        </p:spPr>
      </p:pic>
      <p:pic>
        <p:nvPicPr>
          <p:cNvPr id="160" name="Embedded_03_Cell6" descr="reports\figures\25-poster-transfer.svg">
            <a:extLst>
              <a:ext uri="{FF2B5EF4-FFF2-40B4-BE49-F238E27FC236}">
                <a16:creationId xmlns:a16="http://schemas.microsoft.com/office/drawing/2014/main" id="{A86D3DCA-82D1-F8E6-AE75-F4A5270B9A6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1373" y="20107656"/>
            <a:ext cx="5745693" cy="2404872"/>
          </a:xfrm>
          <a:prstGeom prst="rect">
            <a:avLst/>
          </a:prstGeom>
        </p:spPr>
      </p:pic>
      <p:pic>
        <p:nvPicPr>
          <p:cNvPr id="162" name="Embedded_04_Cell7" descr="reports\figures\28-poster-dashboard.svg">
            <a:extLst>
              <a:ext uri="{FF2B5EF4-FFF2-40B4-BE49-F238E27FC236}">
                <a16:creationId xmlns:a16="http://schemas.microsoft.com/office/drawing/2014/main" id="{D4FC8B6B-B824-15BA-E4C6-AD128F1EA9B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73134" y="20107656"/>
            <a:ext cx="5758717" cy="240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57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E8D3A2"/>
      </a:lt1>
      <a:dk2>
        <a:srgbClr val="32006E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FFC700"/>
      </a:accent5>
      <a:accent6>
        <a:srgbClr val="917B4C"/>
      </a:accent6>
      <a:hlink>
        <a:srgbClr val="32006E"/>
      </a:hlink>
      <a:folHlink>
        <a:srgbClr val="4B2E83"/>
      </a:folHlink>
    </a:clrScheme>
    <a:fontScheme name="Custom 8">
      <a:majorFont>
        <a:latin typeface="Encode Sans Normal Black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8413</TotalTime>
  <Words>1798</Words>
  <Application>Microsoft Office PowerPoint</Application>
  <PresentationFormat>Custom</PresentationFormat>
  <Paragraphs>130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Open Sans</vt:lpstr>
      <vt:lpstr>Uni Sans Regular</vt:lpstr>
      <vt:lpstr>Encode Sans Normal Black</vt:lpstr>
      <vt:lpstr>Encode Sans Normal</vt:lpstr>
      <vt:lpstr>Calibri</vt:lpstr>
      <vt:lpstr>Uni Sans Book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Sydney Brown</dc:creator>
  <cp:lastModifiedBy>Jeffrey Stall</cp:lastModifiedBy>
  <cp:revision>29</cp:revision>
  <dcterms:created xsi:type="dcterms:W3CDTF">2018-02-07T04:27:03Z</dcterms:created>
  <dcterms:modified xsi:type="dcterms:W3CDTF">2026-08-19T05:25:24Z</dcterms:modified>
</cp:coreProperties>
</file>